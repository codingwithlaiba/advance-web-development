
<file path=[Content_Types].xml><?xml version="1.0" encoding="utf-8"?>
<Types xmlns="http://schemas.openxmlformats.org/package/2006/content-types">
  <Default Extension="jfif"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360" r:id="rId3"/>
    <p:sldId id="353" r:id="rId4"/>
    <p:sldId id="367" r:id="rId5"/>
    <p:sldId id="368" r:id="rId6"/>
    <p:sldId id="369" r:id="rId7"/>
    <p:sldId id="370" r:id="rId8"/>
    <p:sldId id="371" r:id="rId9"/>
    <p:sldId id="372" r:id="rId10"/>
    <p:sldId id="354" r:id="rId11"/>
    <p:sldId id="374" r:id="rId12"/>
    <p:sldId id="375" r:id="rId13"/>
    <p:sldId id="373" r:id="rId14"/>
    <p:sldId id="323" r:id="rId15"/>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3FCFFE9-4901-74DA-3AE0-C51308E6ADFC}" name="Hasnain Younis" initials="HY" userId="1528aeb05a6982b7"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82" autoAdjust="0"/>
    <p:restoredTop sz="94660"/>
  </p:normalViewPr>
  <p:slideViewPr>
    <p:cSldViewPr>
      <p:cViewPr varScale="1">
        <p:scale>
          <a:sx n="84" d="100"/>
          <a:sy n="84" d="100"/>
        </p:scale>
        <p:origin x="680" y="52"/>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7A14F8BC-8492-4D20-B207-C9ED5C4F5B40}" type="datetimeFigureOut">
              <a:rPr lang="en-US" smtClean="0"/>
              <a:t>2/10/2026</a:t>
            </a:fld>
            <a:endParaRPr lang="en-US"/>
          </a:p>
        </p:txBody>
      </p:sp>
      <p:sp>
        <p:nvSpPr>
          <p:cNvPr id="4" name="Slide Image Placeholder 3"/>
          <p:cNvSpPr>
            <a:spLocks noGrp="1" noRot="1" noChangeAspect="1"/>
          </p:cNvSpPr>
          <p:nvPr>
            <p:ph type="sldImg" idx="2"/>
          </p:nvPr>
        </p:nvSpPr>
        <p:spPr>
          <a:xfrm>
            <a:off x="2857500" y="385763"/>
            <a:ext cx="3429000" cy="1928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43163"/>
            <a:ext cx="7315200" cy="23145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4738"/>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4738"/>
            <a:ext cx="3962400" cy="257175"/>
          </a:xfrm>
          <a:prstGeom prst="rect">
            <a:avLst/>
          </a:prstGeom>
        </p:spPr>
        <p:txBody>
          <a:bodyPr vert="horz" lIns="91440" tIns="45720" rIns="91440" bIns="45720" rtlCol="0" anchor="b"/>
          <a:lstStyle>
            <a:lvl1pPr algn="r">
              <a:defRPr sz="1200"/>
            </a:lvl1pPr>
          </a:lstStyle>
          <a:p>
            <a:fld id="{0FFFB37C-3DA2-40A4-80D8-E98FE517BA59}" type="slidenum">
              <a:rPr lang="en-US" smtClean="0"/>
              <a:t>‹#›</a:t>
            </a:fld>
            <a:endParaRPr lang="en-US"/>
          </a:p>
        </p:txBody>
      </p:sp>
    </p:spTree>
    <p:extLst>
      <p:ext uri="{BB962C8B-B14F-4D97-AF65-F5344CB8AC3E}">
        <p14:creationId xmlns:p14="http://schemas.microsoft.com/office/powerpoint/2010/main" val="2059039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6" name="Holder 6"/>
          <p:cNvSpPr>
            <a:spLocks noGrp="1"/>
          </p:cNvSpPr>
          <p:nvPr>
            <p:ph type="sldNum" sz="quarter" idx="7"/>
          </p:nvPr>
        </p:nvSpPr>
        <p:spPr/>
        <p:txBody>
          <a:bodyPr lIns="0" tIns="0" rIns="0" bIns="0"/>
          <a:lstStyle>
            <a:lvl1pPr>
              <a:defRPr sz="1200" b="1" i="0">
                <a:solidFill>
                  <a:schemeClr val="bg1"/>
                </a:solidFill>
                <a:latin typeface="Calibri"/>
                <a:cs typeface="Calibri"/>
              </a:defRPr>
            </a:lvl1pPr>
          </a:lstStyle>
          <a:p>
            <a:pPr marL="38100">
              <a:lnSpc>
                <a:spcPct val="100000"/>
              </a:lnSpc>
              <a:spcBef>
                <a:spcPts val="10"/>
              </a:spcBef>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bg1"/>
                </a:solidFill>
                <a:latin typeface="Roboto Cn"/>
                <a:cs typeface="Roboto C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6" name="Holder 6"/>
          <p:cNvSpPr>
            <a:spLocks noGrp="1"/>
          </p:cNvSpPr>
          <p:nvPr>
            <p:ph type="sldNum" sz="quarter" idx="7"/>
          </p:nvPr>
        </p:nvSpPr>
        <p:spPr/>
        <p:txBody>
          <a:bodyPr lIns="0" tIns="0" rIns="0" bIns="0"/>
          <a:lstStyle>
            <a:lvl1pPr>
              <a:defRPr sz="1200" b="1" i="0">
                <a:solidFill>
                  <a:schemeClr val="bg1"/>
                </a:solidFill>
                <a:latin typeface="Calibri"/>
                <a:cs typeface="Calibri"/>
              </a:defRPr>
            </a:lvl1pPr>
          </a:lstStyle>
          <a:p>
            <a:pPr marL="38100">
              <a:lnSpc>
                <a:spcPct val="100000"/>
              </a:lnSpc>
              <a:spcBef>
                <a:spcPts val="10"/>
              </a:spcBef>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bg1"/>
                </a:solidFill>
                <a:latin typeface="Roboto Cn"/>
                <a:cs typeface="Roboto Cn"/>
              </a:defRPr>
            </a:lvl1pPr>
          </a:lstStyle>
          <a:p>
            <a:endParaRPr/>
          </a:p>
        </p:txBody>
      </p:sp>
      <p:sp>
        <p:nvSpPr>
          <p:cNvPr id="3" name="Holder 3"/>
          <p:cNvSpPr>
            <a:spLocks noGrp="1"/>
          </p:cNvSpPr>
          <p:nvPr>
            <p:ph sz="half" idx="2"/>
          </p:nvPr>
        </p:nvSpPr>
        <p:spPr>
          <a:xfrm>
            <a:off x="448099" y="1685756"/>
            <a:ext cx="2833370" cy="310896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7" name="Holder 7"/>
          <p:cNvSpPr>
            <a:spLocks noGrp="1"/>
          </p:cNvSpPr>
          <p:nvPr>
            <p:ph type="sldNum" sz="quarter" idx="7"/>
          </p:nvPr>
        </p:nvSpPr>
        <p:spPr/>
        <p:txBody>
          <a:bodyPr lIns="0" tIns="0" rIns="0" bIns="0"/>
          <a:lstStyle>
            <a:lvl1pPr>
              <a:defRPr sz="1200" b="1" i="0">
                <a:solidFill>
                  <a:schemeClr val="bg1"/>
                </a:solidFill>
                <a:latin typeface="Calibri"/>
                <a:cs typeface="Calibri"/>
              </a:defRPr>
            </a:lvl1pPr>
          </a:lstStyle>
          <a:p>
            <a:pPr marL="38100">
              <a:lnSpc>
                <a:spcPct val="100000"/>
              </a:lnSpc>
              <a:spcBef>
                <a:spcPts val="10"/>
              </a:spcBef>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292648" y="126424"/>
            <a:ext cx="779780" cy="260350"/>
          </a:xfrm>
          <a:custGeom>
            <a:avLst/>
            <a:gdLst/>
            <a:ahLst/>
            <a:cxnLst/>
            <a:rect l="l" t="t" r="r" b="b"/>
            <a:pathLst>
              <a:path w="779779" h="260350">
                <a:moveTo>
                  <a:pt x="779700" y="259799"/>
                </a:moveTo>
                <a:lnTo>
                  <a:pt x="0" y="259799"/>
                </a:lnTo>
                <a:lnTo>
                  <a:pt x="252817" y="0"/>
                </a:lnTo>
                <a:lnTo>
                  <a:pt x="779700" y="259799"/>
                </a:lnTo>
                <a:close/>
              </a:path>
            </a:pathLst>
          </a:custGeom>
          <a:solidFill>
            <a:srgbClr val="263148"/>
          </a:solidFill>
        </p:spPr>
        <p:txBody>
          <a:bodyPr wrap="square" lIns="0" tIns="0" rIns="0" bIns="0" rtlCol="0"/>
          <a:lstStyle/>
          <a:p>
            <a:endParaRPr/>
          </a:p>
        </p:txBody>
      </p:sp>
      <p:sp>
        <p:nvSpPr>
          <p:cNvPr id="17" name="bg object 17"/>
          <p:cNvSpPr/>
          <p:nvPr/>
        </p:nvSpPr>
        <p:spPr>
          <a:xfrm>
            <a:off x="0" y="50"/>
            <a:ext cx="6756400" cy="1327785"/>
          </a:xfrm>
          <a:custGeom>
            <a:avLst/>
            <a:gdLst/>
            <a:ahLst/>
            <a:cxnLst/>
            <a:rect l="l" t="t" r="r" b="b"/>
            <a:pathLst>
              <a:path w="6756400" h="1327785">
                <a:moveTo>
                  <a:pt x="6756159" y="0"/>
                </a:moveTo>
                <a:lnTo>
                  <a:pt x="5434355" y="0"/>
                </a:lnTo>
                <a:lnTo>
                  <a:pt x="5428856" y="0"/>
                </a:lnTo>
                <a:lnTo>
                  <a:pt x="0" y="0"/>
                </a:lnTo>
                <a:lnTo>
                  <a:pt x="0" y="1327302"/>
                </a:lnTo>
                <a:lnTo>
                  <a:pt x="5428856" y="1327302"/>
                </a:lnTo>
                <a:lnTo>
                  <a:pt x="5434355" y="1327302"/>
                </a:lnTo>
                <a:lnTo>
                  <a:pt x="5434355" y="1321816"/>
                </a:lnTo>
                <a:lnTo>
                  <a:pt x="6756159" y="0"/>
                </a:lnTo>
                <a:close/>
              </a:path>
            </a:pathLst>
          </a:custGeom>
          <a:solidFill>
            <a:srgbClr val="C7D3E6"/>
          </a:solidFill>
        </p:spPr>
        <p:txBody>
          <a:bodyPr wrap="square" lIns="0" tIns="0" rIns="0" bIns="0" rtlCol="0"/>
          <a:lstStyle/>
          <a:p>
            <a:endParaRPr/>
          </a:p>
        </p:txBody>
      </p:sp>
      <p:sp>
        <p:nvSpPr>
          <p:cNvPr id="18" name="bg object 18"/>
          <p:cNvSpPr/>
          <p:nvPr/>
        </p:nvSpPr>
        <p:spPr>
          <a:xfrm>
            <a:off x="0" y="381012"/>
            <a:ext cx="7072630" cy="772160"/>
          </a:xfrm>
          <a:custGeom>
            <a:avLst/>
            <a:gdLst/>
            <a:ahLst/>
            <a:cxnLst/>
            <a:rect l="l" t="t" r="r" b="b"/>
            <a:pathLst>
              <a:path w="7072630" h="772160">
                <a:moveTo>
                  <a:pt x="7072414" y="0"/>
                </a:moveTo>
                <a:lnTo>
                  <a:pt x="6303899" y="0"/>
                </a:lnTo>
                <a:lnTo>
                  <a:pt x="6300673" y="0"/>
                </a:lnTo>
                <a:lnTo>
                  <a:pt x="0" y="0"/>
                </a:lnTo>
                <a:lnTo>
                  <a:pt x="0" y="771740"/>
                </a:lnTo>
                <a:lnTo>
                  <a:pt x="6300673" y="771740"/>
                </a:lnTo>
                <a:lnTo>
                  <a:pt x="6303899" y="771740"/>
                </a:lnTo>
                <a:lnTo>
                  <a:pt x="6303899" y="768515"/>
                </a:lnTo>
                <a:lnTo>
                  <a:pt x="7072414" y="0"/>
                </a:lnTo>
                <a:close/>
              </a:path>
            </a:pathLst>
          </a:custGeom>
          <a:solidFill>
            <a:srgbClr val="3E5378"/>
          </a:solidFill>
        </p:spPr>
        <p:txBody>
          <a:bodyPr wrap="square" lIns="0" tIns="0" rIns="0" bIns="0" rtlCol="0"/>
          <a:lstStyle/>
          <a:p>
            <a:endParaRPr/>
          </a:p>
        </p:txBody>
      </p:sp>
      <p:sp>
        <p:nvSpPr>
          <p:cNvPr id="19" name="bg object 19"/>
          <p:cNvSpPr/>
          <p:nvPr/>
        </p:nvSpPr>
        <p:spPr>
          <a:xfrm>
            <a:off x="6946842" y="4948334"/>
            <a:ext cx="394335" cy="131445"/>
          </a:xfrm>
          <a:custGeom>
            <a:avLst/>
            <a:gdLst/>
            <a:ahLst/>
            <a:cxnLst/>
            <a:rect l="l" t="t" r="r" b="b"/>
            <a:pathLst>
              <a:path w="394334" h="131445">
                <a:moveTo>
                  <a:pt x="266379" y="131399"/>
                </a:moveTo>
                <a:lnTo>
                  <a:pt x="0" y="0"/>
                </a:lnTo>
                <a:lnTo>
                  <a:pt x="394199" y="0"/>
                </a:lnTo>
                <a:lnTo>
                  <a:pt x="266379" y="131399"/>
                </a:lnTo>
                <a:close/>
              </a:path>
            </a:pathLst>
          </a:custGeom>
          <a:solidFill>
            <a:srgbClr val="D16F00"/>
          </a:solidFill>
        </p:spPr>
        <p:txBody>
          <a:bodyPr wrap="square" lIns="0" tIns="0" rIns="0" bIns="0" rtlCol="0"/>
          <a:lstStyle/>
          <a:p>
            <a:endParaRPr/>
          </a:p>
        </p:txBody>
      </p:sp>
      <p:sp>
        <p:nvSpPr>
          <p:cNvPr id="20" name="bg object 20"/>
          <p:cNvSpPr/>
          <p:nvPr/>
        </p:nvSpPr>
        <p:spPr>
          <a:xfrm>
            <a:off x="7106437" y="4472724"/>
            <a:ext cx="2037714" cy="671195"/>
          </a:xfrm>
          <a:custGeom>
            <a:avLst/>
            <a:gdLst/>
            <a:ahLst/>
            <a:cxnLst/>
            <a:rect l="l" t="t" r="r" b="b"/>
            <a:pathLst>
              <a:path w="2037715" h="671195">
                <a:moveTo>
                  <a:pt x="2037562" y="12"/>
                </a:moveTo>
                <a:lnTo>
                  <a:pt x="670966" y="12"/>
                </a:lnTo>
                <a:lnTo>
                  <a:pt x="668248" y="12"/>
                </a:lnTo>
                <a:lnTo>
                  <a:pt x="668248" y="2717"/>
                </a:lnTo>
                <a:lnTo>
                  <a:pt x="0" y="670788"/>
                </a:lnTo>
                <a:lnTo>
                  <a:pt x="670966" y="670788"/>
                </a:lnTo>
                <a:lnTo>
                  <a:pt x="2037562" y="670775"/>
                </a:lnTo>
                <a:lnTo>
                  <a:pt x="2037562" y="12"/>
                </a:lnTo>
                <a:close/>
              </a:path>
            </a:pathLst>
          </a:custGeom>
          <a:solidFill>
            <a:srgbClr val="C7D3E6"/>
          </a:solidFill>
        </p:spPr>
        <p:txBody>
          <a:bodyPr wrap="square" lIns="0" tIns="0" rIns="0" bIns="0" rtlCol="0"/>
          <a:lstStyle/>
          <a:p>
            <a:endParaRPr/>
          </a:p>
        </p:txBody>
      </p:sp>
      <p:sp>
        <p:nvSpPr>
          <p:cNvPr id="21" name="bg object 21"/>
          <p:cNvSpPr/>
          <p:nvPr/>
        </p:nvSpPr>
        <p:spPr>
          <a:xfrm>
            <a:off x="6949808" y="4646739"/>
            <a:ext cx="2194560" cy="304800"/>
          </a:xfrm>
          <a:custGeom>
            <a:avLst/>
            <a:gdLst/>
            <a:ahLst/>
            <a:cxnLst/>
            <a:rect l="l" t="t" r="r" b="b"/>
            <a:pathLst>
              <a:path w="2194559" h="304800">
                <a:moveTo>
                  <a:pt x="2194191" y="12"/>
                </a:moveTo>
                <a:lnTo>
                  <a:pt x="304546" y="12"/>
                </a:lnTo>
                <a:lnTo>
                  <a:pt x="298145" y="12"/>
                </a:lnTo>
                <a:lnTo>
                  <a:pt x="298145" y="6413"/>
                </a:lnTo>
                <a:lnTo>
                  <a:pt x="0" y="304558"/>
                </a:lnTo>
                <a:lnTo>
                  <a:pt x="298145" y="304558"/>
                </a:lnTo>
                <a:lnTo>
                  <a:pt x="2194191" y="304571"/>
                </a:lnTo>
                <a:lnTo>
                  <a:pt x="2194191" y="12"/>
                </a:lnTo>
                <a:close/>
              </a:path>
            </a:pathLst>
          </a:custGeom>
          <a:solidFill>
            <a:srgbClr val="FF98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1" i="0">
                <a:solidFill>
                  <a:schemeClr val="bg1"/>
                </a:solidFill>
                <a:latin typeface="Roboto Cn"/>
                <a:cs typeface="Roboto C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5" name="Holder 5"/>
          <p:cNvSpPr>
            <a:spLocks noGrp="1"/>
          </p:cNvSpPr>
          <p:nvPr>
            <p:ph type="sldNum" sz="quarter" idx="7"/>
          </p:nvPr>
        </p:nvSpPr>
        <p:spPr/>
        <p:txBody>
          <a:bodyPr lIns="0" tIns="0" rIns="0" bIns="0"/>
          <a:lstStyle>
            <a:lvl1pPr>
              <a:defRPr sz="1200" b="1" i="0">
                <a:solidFill>
                  <a:schemeClr val="bg1"/>
                </a:solidFill>
                <a:latin typeface="Calibri"/>
                <a:cs typeface="Calibri"/>
              </a:defRPr>
            </a:lvl1pPr>
          </a:lstStyle>
          <a:p>
            <a:pPr marL="38100">
              <a:lnSpc>
                <a:spcPct val="100000"/>
              </a:lnSpc>
              <a:spcBef>
                <a:spcPts val="10"/>
              </a:spcBef>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697213" y="2635518"/>
            <a:ext cx="889635" cy="296545"/>
          </a:xfrm>
          <a:custGeom>
            <a:avLst/>
            <a:gdLst/>
            <a:ahLst/>
            <a:cxnLst/>
            <a:rect l="l" t="t" r="r" b="b"/>
            <a:pathLst>
              <a:path w="889634" h="296544">
                <a:moveTo>
                  <a:pt x="889199" y="296399"/>
                </a:moveTo>
                <a:lnTo>
                  <a:pt x="0" y="296399"/>
                </a:lnTo>
                <a:lnTo>
                  <a:pt x="288322" y="0"/>
                </a:lnTo>
                <a:lnTo>
                  <a:pt x="889199" y="296399"/>
                </a:lnTo>
                <a:close/>
              </a:path>
            </a:pathLst>
          </a:custGeom>
          <a:solidFill>
            <a:srgbClr val="263148"/>
          </a:solidFill>
        </p:spPr>
        <p:txBody>
          <a:bodyPr wrap="square" lIns="0" tIns="0" rIns="0" bIns="0" rtlCol="0"/>
          <a:lstStyle/>
          <a:p>
            <a:endParaRPr/>
          </a:p>
        </p:txBody>
      </p:sp>
      <p:sp>
        <p:nvSpPr>
          <p:cNvPr id="17" name="bg object 17"/>
          <p:cNvSpPr/>
          <p:nvPr/>
        </p:nvSpPr>
        <p:spPr>
          <a:xfrm>
            <a:off x="0" y="0"/>
            <a:ext cx="8654415" cy="5143500"/>
          </a:xfrm>
          <a:custGeom>
            <a:avLst/>
            <a:gdLst/>
            <a:ahLst/>
            <a:cxnLst/>
            <a:rect l="l" t="t" r="r" b="b"/>
            <a:pathLst>
              <a:path w="8654415" h="5143500">
                <a:moveTo>
                  <a:pt x="8654301" y="0"/>
                </a:moveTo>
                <a:lnTo>
                  <a:pt x="3524999" y="0"/>
                </a:lnTo>
                <a:lnTo>
                  <a:pt x="3517887" y="0"/>
                </a:lnTo>
                <a:lnTo>
                  <a:pt x="0" y="0"/>
                </a:lnTo>
                <a:lnTo>
                  <a:pt x="0" y="5143500"/>
                </a:lnTo>
                <a:lnTo>
                  <a:pt x="3524999" y="5143500"/>
                </a:lnTo>
                <a:lnTo>
                  <a:pt x="3524999" y="5129301"/>
                </a:lnTo>
                <a:lnTo>
                  <a:pt x="8654301" y="0"/>
                </a:lnTo>
                <a:close/>
              </a:path>
            </a:pathLst>
          </a:custGeom>
          <a:solidFill>
            <a:srgbClr val="C7D3E6"/>
          </a:solidFill>
        </p:spPr>
        <p:txBody>
          <a:bodyPr wrap="square" lIns="0" tIns="0" rIns="0" bIns="0" rtlCol="0"/>
          <a:lstStyle/>
          <a:p>
            <a:endParaRPr/>
          </a:p>
        </p:txBody>
      </p:sp>
      <p:sp>
        <p:nvSpPr>
          <p:cNvPr id="18" name="bg object 18"/>
          <p:cNvSpPr/>
          <p:nvPr/>
        </p:nvSpPr>
        <p:spPr>
          <a:xfrm>
            <a:off x="0" y="2924835"/>
            <a:ext cx="6589395" cy="2027555"/>
          </a:xfrm>
          <a:custGeom>
            <a:avLst/>
            <a:gdLst/>
            <a:ahLst/>
            <a:cxnLst/>
            <a:rect l="l" t="t" r="r" b="b"/>
            <a:pathLst>
              <a:path w="6589395" h="2027554">
                <a:moveTo>
                  <a:pt x="6589077" y="38"/>
                </a:moveTo>
                <a:lnTo>
                  <a:pt x="4564189" y="38"/>
                </a:lnTo>
                <a:lnTo>
                  <a:pt x="0" y="0"/>
                </a:lnTo>
                <a:lnTo>
                  <a:pt x="0" y="2027224"/>
                </a:lnTo>
                <a:lnTo>
                  <a:pt x="4561852" y="2027224"/>
                </a:lnTo>
                <a:lnTo>
                  <a:pt x="4564189" y="2027224"/>
                </a:lnTo>
                <a:lnTo>
                  <a:pt x="4564189" y="2024926"/>
                </a:lnTo>
                <a:lnTo>
                  <a:pt x="6589077" y="38"/>
                </a:lnTo>
                <a:close/>
              </a:path>
            </a:pathLst>
          </a:custGeom>
          <a:solidFill>
            <a:srgbClr val="3E5378"/>
          </a:solidFill>
        </p:spPr>
        <p:txBody>
          <a:bodyPr wrap="square" lIns="0" tIns="0" rIns="0" bIns="0" rtlCol="0"/>
          <a:lstStyle/>
          <a:p>
            <a:endParaRPr/>
          </a:p>
        </p:txBody>
      </p:sp>
      <p:sp>
        <p:nvSpPr>
          <p:cNvPr id="19" name="bg object 19"/>
          <p:cNvSpPr/>
          <p:nvPr/>
        </p:nvSpPr>
        <p:spPr>
          <a:xfrm>
            <a:off x="6946842" y="4948333"/>
            <a:ext cx="394335" cy="131445"/>
          </a:xfrm>
          <a:custGeom>
            <a:avLst/>
            <a:gdLst/>
            <a:ahLst/>
            <a:cxnLst/>
            <a:rect l="l" t="t" r="r" b="b"/>
            <a:pathLst>
              <a:path w="394334" h="131445">
                <a:moveTo>
                  <a:pt x="266379" y="131399"/>
                </a:moveTo>
                <a:lnTo>
                  <a:pt x="0" y="0"/>
                </a:lnTo>
                <a:lnTo>
                  <a:pt x="394199" y="0"/>
                </a:lnTo>
                <a:lnTo>
                  <a:pt x="266379" y="131399"/>
                </a:lnTo>
                <a:close/>
              </a:path>
            </a:pathLst>
          </a:custGeom>
          <a:solidFill>
            <a:srgbClr val="D16F00"/>
          </a:solidFill>
        </p:spPr>
        <p:txBody>
          <a:bodyPr wrap="square" lIns="0" tIns="0" rIns="0" bIns="0" rtlCol="0"/>
          <a:lstStyle/>
          <a:p>
            <a:endParaRPr/>
          </a:p>
        </p:txBody>
      </p:sp>
      <p:sp>
        <p:nvSpPr>
          <p:cNvPr id="20" name="bg object 20"/>
          <p:cNvSpPr/>
          <p:nvPr/>
        </p:nvSpPr>
        <p:spPr>
          <a:xfrm>
            <a:off x="7106437" y="4472724"/>
            <a:ext cx="2037714" cy="671195"/>
          </a:xfrm>
          <a:custGeom>
            <a:avLst/>
            <a:gdLst/>
            <a:ahLst/>
            <a:cxnLst/>
            <a:rect l="l" t="t" r="r" b="b"/>
            <a:pathLst>
              <a:path w="2037715" h="671195">
                <a:moveTo>
                  <a:pt x="2037562" y="12"/>
                </a:moveTo>
                <a:lnTo>
                  <a:pt x="670966" y="12"/>
                </a:lnTo>
                <a:lnTo>
                  <a:pt x="668248" y="12"/>
                </a:lnTo>
                <a:lnTo>
                  <a:pt x="668248" y="2717"/>
                </a:lnTo>
                <a:lnTo>
                  <a:pt x="0" y="670788"/>
                </a:lnTo>
                <a:lnTo>
                  <a:pt x="670966" y="670788"/>
                </a:lnTo>
                <a:lnTo>
                  <a:pt x="2037562" y="670775"/>
                </a:lnTo>
                <a:lnTo>
                  <a:pt x="2037562" y="12"/>
                </a:lnTo>
                <a:close/>
              </a:path>
            </a:pathLst>
          </a:custGeom>
          <a:solidFill>
            <a:srgbClr val="C7D3E6"/>
          </a:solidFill>
        </p:spPr>
        <p:txBody>
          <a:bodyPr wrap="square" lIns="0" tIns="0" rIns="0" bIns="0" rtlCol="0"/>
          <a:lstStyle/>
          <a:p>
            <a:endParaRPr/>
          </a:p>
        </p:txBody>
      </p:sp>
      <p:sp>
        <p:nvSpPr>
          <p:cNvPr id="21" name="bg object 21"/>
          <p:cNvSpPr/>
          <p:nvPr/>
        </p:nvSpPr>
        <p:spPr>
          <a:xfrm>
            <a:off x="6949808" y="4646739"/>
            <a:ext cx="2194560" cy="304800"/>
          </a:xfrm>
          <a:custGeom>
            <a:avLst/>
            <a:gdLst/>
            <a:ahLst/>
            <a:cxnLst/>
            <a:rect l="l" t="t" r="r" b="b"/>
            <a:pathLst>
              <a:path w="2194559" h="304800">
                <a:moveTo>
                  <a:pt x="2194191" y="12"/>
                </a:moveTo>
                <a:lnTo>
                  <a:pt x="304546" y="12"/>
                </a:lnTo>
                <a:lnTo>
                  <a:pt x="298145" y="12"/>
                </a:lnTo>
                <a:lnTo>
                  <a:pt x="298145" y="6413"/>
                </a:lnTo>
                <a:lnTo>
                  <a:pt x="0" y="304558"/>
                </a:lnTo>
                <a:lnTo>
                  <a:pt x="298145" y="304558"/>
                </a:lnTo>
                <a:lnTo>
                  <a:pt x="2194191" y="304571"/>
                </a:lnTo>
                <a:lnTo>
                  <a:pt x="2194191" y="12"/>
                </a:lnTo>
                <a:close/>
              </a:path>
            </a:pathLst>
          </a:custGeom>
          <a:solidFill>
            <a:srgbClr val="FF9800"/>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4" name="Holder 4"/>
          <p:cNvSpPr>
            <a:spLocks noGrp="1"/>
          </p:cNvSpPr>
          <p:nvPr>
            <p:ph type="sldNum" sz="quarter" idx="7"/>
          </p:nvPr>
        </p:nvSpPr>
        <p:spPr/>
        <p:txBody>
          <a:bodyPr lIns="0" tIns="0" rIns="0" bIns="0"/>
          <a:lstStyle>
            <a:lvl1pPr>
              <a:defRPr sz="1200" b="1" i="0">
                <a:solidFill>
                  <a:schemeClr val="bg1"/>
                </a:solidFill>
                <a:latin typeface="Calibri"/>
                <a:cs typeface="Calibri"/>
              </a:defRPr>
            </a:lvl1pPr>
          </a:lstStyle>
          <a:p>
            <a:pPr marL="38100">
              <a:lnSpc>
                <a:spcPct val="100000"/>
              </a:lnSpc>
              <a:spcBef>
                <a:spcPts val="10"/>
              </a:spcBef>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946842" y="4948334"/>
            <a:ext cx="394335" cy="131445"/>
          </a:xfrm>
          <a:custGeom>
            <a:avLst/>
            <a:gdLst/>
            <a:ahLst/>
            <a:cxnLst/>
            <a:rect l="l" t="t" r="r" b="b"/>
            <a:pathLst>
              <a:path w="394334" h="131445">
                <a:moveTo>
                  <a:pt x="266379" y="131399"/>
                </a:moveTo>
                <a:lnTo>
                  <a:pt x="0" y="0"/>
                </a:lnTo>
                <a:lnTo>
                  <a:pt x="394199" y="0"/>
                </a:lnTo>
                <a:lnTo>
                  <a:pt x="266379" y="131399"/>
                </a:lnTo>
                <a:close/>
              </a:path>
            </a:pathLst>
          </a:custGeom>
          <a:solidFill>
            <a:srgbClr val="D16F00"/>
          </a:solidFill>
        </p:spPr>
        <p:txBody>
          <a:bodyPr wrap="square" lIns="0" tIns="0" rIns="0" bIns="0" rtlCol="0"/>
          <a:lstStyle/>
          <a:p>
            <a:endParaRPr/>
          </a:p>
        </p:txBody>
      </p:sp>
      <p:sp>
        <p:nvSpPr>
          <p:cNvPr id="17" name="bg object 17"/>
          <p:cNvSpPr/>
          <p:nvPr/>
        </p:nvSpPr>
        <p:spPr>
          <a:xfrm>
            <a:off x="7106437" y="4472724"/>
            <a:ext cx="2037714" cy="671195"/>
          </a:xfrm>
          <a:custGeom>
            <a:avLst/>
            <a:gdLst/>
            <a:ahLst/>
            <a:cxnLst/>
            <a:rect l="l" t="t" r="r" b="b"/>
            <a:pathLst>
              <a:path w="2037715" h="671195">
                <a:moveTo>
                  <a:pt x="2037562" y="12"/>
                </a:moveTo>
                <a:lnTo>
                  <a:pt x="670966" y="12"/>
                </a:lnTo>
                <a:lnTo>
                  <a:pt x="668248" y="12"/>
                </a:lnTo>
                <a:lnTo>
                  <a:pt x="668248" y="2717"/>
                </a:lnTo>
                <a:lnTo>
                  <a:pt x="0" y="670788"/>
                </a:lnTo>
                <a:lnTo>
                  <a:pt x="670966" y="670788"/>
                </a:lnTo>
                <a:lnTo>
                  <a:pt x="2037562" y="670775"/>
                </a:lnTo>
                <a:lnTo>
                  <a:pt x="2037562" y="12"/>
                </a:lnTo>
                <a:close/>
              </a:path>
            </a:pathLst>
          </a:custGeom>
          <a:solidFill>
            <a:srgbClr val="C7D3E6"/>
          </a:solidFill>
        </p:spPr>
        <p:txBody>
          <a:bodyPr wrap="square" lIns="0" tIns="0" rIns="0" bIns="0" rtlCol="0"/>
          <a:lstStyle/>
          <a:p>
            <a:endParaRPr/>
          </a:p>
        </p:txBody>
      </p:sp>
      <p:sp>
        <p:nvSpPr>
          <p:cNvPr id="18" name="bg object 18"/>
          <p:cNvSpPr/>
          <p:nvPr/>
        </p:nvSpPr>
        <p:spPr>
          <a:xfrm>
            <a:off x="6949808" y="4646739"/>
            <a:ext cx="2194560" cy="304800"/>
          </a:xfrm>
          <a:custGeom>
            <a:avLst/>
            <a:gdLst/>
            <a:ahLst/>
            <a:cxnLst/>
            <a:rect l="l" t="t" r="r" b="b"/>
            <a:pathLst>
              <a:path w="2194559" h="304800">
                <a:moveTo>
                  <a:pt x="2194191" y="12"/>
                </a:moveTo>
                <a:lnTo>
                  <a:pt x="304546" y="12"/>
                </a:lnTo>
                <a:lnTo>
                  <a:pt x="298145" y="12"/>
                </a:lnTo>
                <a:lnTo>
                  <a:pt x="298145" y="6413"/>
                </a:lnTo>
                <a:lnTo>
                  <a:pt x="0" y="304558"/>
                </a:lnTo>
                <a:lnTo>
                  <a:pt x="298145" y="304558"/>
                </a:lnTo>
                <a:lnTo>
                  <a:pt x="2194191" y="304571"/>
                </a:lnTo>
                <a:lnTo>
                  <a:pt x="2194191" y="12"/>
                </a:lnTo>
                <a:close/>
              </a:path>
            </a:pathLst>
          </a:custGeom>
          <a:solidFill>
            <a:srgbClr val="FF9800"/>
          </a:solidFill>
        </p:spPr>
        <p:txBody>
          <a:bodyPr wrap="square" lIns="0" tIns="0" rIns="0" bIns="0" rtlCol="0"/>
          <a:lstStyle/>
          <a:p>
            <a:endParaRPr/>
          </a:p>
        </p:txBody>
      </p:sp>
      <p:sp>
        <p:nvSpPr>
          <p:cNvPr id="19" name="bg object 19"/>
          <p:cNvSpPr/>
          <p:nvPr/>
        </p:nvSpPr>
        <p:spPr>
          <a:xfrm>
            <a:off x="6292648" y="126424"/>
            <a:ext cx="779780" cy="260350"/>
          </a:xfrm>
          <a:custGeom>
            <a:avLst/>
            <a:gdLst/>
            <a:ahLst/>
            <a:cxnLst/>
            <a:rect l="l" t="t" r="r" b="b"/>
            <a:pathLst>
              <a:path w="779779" h="260350">
                <a:moveTo>
                  <a:pt x="779700" y="259799"/>
                </a:moveTo>
                <a:lnTo>
                  <a:pt x="0" y="259799"/>
                </a:lnTo>
                <a:lnTo>
                  <a:pt x="252817" y="0"/>
                </a:lnTo>
                <a:lnTo>
                  <a:pt x="779700" y="259799"/>
                </a:lnTo>
                <a:close/>
              </a:path>
            </a:pathLst>
          </a:custGeom>
          <a:solidFill>
            <a:srgbClr val="263148"/>
          </a:solidFill>
        </p:spPr>
        <p:txBody>
          <a:bodyPr wrap="square" lIns="0" tIns="0" rIns="0" bIns="0" rtlCol="0"/>
          <a:lstStyle/>
          <a:p>
            <a:endParaRPr/>
          </a:p>
        </p:txBody>
      </p:sp>
      <p:sp>
        <p:nvSpPr>
          <p:cNvPr id="20" name="bg object 20"/>
          <p:cNvSpPr/>
          <p:nvPr/>
        </p:nvSpPr>
        <p:spPr>
          <a:xfrm>
            <a:off x="0" y="50"/>
            <a:ext cx="6756400" cy="1327785"/>
          </a:xfrm>
          <a:custGeom>
            <a:avLst/>
            <a:gdLst/>
            <a:ahLst/>
            <a:cxnLst/>
            <a:rect l="l" t="t" r="r" b="b"/>
            <a:pathLst>
              <a:path w="6756400" h="1327785">
                <a:moveTo>
                  <a:pt x="6756159" y="0"/>
                </a:moveTo>
                <a:lnTo>
                  <a:pt x="5434355" y="0"/>
                </a:lnTo>
                <a:lnTo>
                  <a:pt x="5428856" y="0"/>
                </a:lnTo>
                <a:lnTo>
                  <a:pt x="0" y="0"/>
                </a:lnTo>
                <a:lnTo>
                  <a:pt x="0" y="1327302"/>
                </a:lnTo>
                <a:lnTo>
                  <a:pt x="5428856" y="1327302"/>
                </a:lnTo>
                <a:lnTo>
                  <a:pt x="5434355" y="1327302"/>
                </a:lnTo>
                <a:lnTo>
                  <a:pt x="5434355" y="1321816"/>
                </a:lnTo>
                <a:lnTo>
                  <a:pt x="6756159" y="0"/>
                </a:lnTo>
                <a:close/>
              </a:path>
            </a:pathLst>
          </a:custGeom>
          <a:solidFill>
            <a:srgbClr val="C7D3E6"/>
          </a:solidFill>
        </p:spPr>
        <p:txBody>
          <a:bodyPr wrap="square" lIns="0" tIns="0" rIns="0" bIns="0" rtlCol="0"/>
          <a:lstStyle/>
          <a:p>
            <a:endParaRPr/>
          </a:p>
        </p:txBody>
      </p:sp>
      <p:sp>
        <p:nvSpPr>
          <p:cNvPr id="21" name="bg object 21"/>
          <p:cNvSpPr/>
          <p:nvPr/>
        </p:nvSpPr>
        <p:spPr>
          <a:xfrm>
            <a:off x="0" y="381012"/>
            <a:ext cx="7072630" cy="772160"/>
          </a:xfrm>
          <a:custGeom>
            <a:avLst/>
            <a:gdLst/>
            <a:ahLst/>
            <a:cxnLst/>
            <a:rect l="l" t="t" r="r" b="b"/>
            <a:pathLst>
              <a:path w="7072630" h="772160">
                <a:moveTo>
                  <a:pt x="7072414" y="0"/>
                </a:moveTo>
                <a:lnTo>
                  <a:pt x="6303899" y="0"/>
                </a:lnTo>
                <a:lnTo>
                  <a:pt x="6300673" y="0"/>
                </a:lnTo>
                <a:lnTo>
                  <a:pt x="0" y="0"/>
                </a:lnTo>
                <a:lnTo>
                  <a:pt x="0" y="771740"/>
                </a:lnTo>
                <a:lnTo>
                  <a:pt x="6300673" y="771740"/>
                </a:lnTo>
                <a:lnTo>
                  <a:pt x="6303899" y="771740"/>
                </a:lnTo>
                <a:lnTo>
                  <a:pt x="6303899" y="768515"/>
                </a:lnTo>
                <a:lnTo>
                  <a:pt x="7072414" y="0"/>
                </a:lnTo>
                <a:close/>
              </a:path>
            </a:pathLst>
          </a:custGeom>
          <a:solidFill>
            <a:srgbClr val="3E5378"/>
          </a:solidFill>
        </p:spPr>
        <p:txBody>
          <a:bodyPr wrap="square" lIns="0" tIns="0" rIns="0" bIns="0" rtlCol="0"/>
          <a:lstStyle/>
          <a:p>
            <a:endParaRPr/>
          </a:p>
        </p:txBody>
      </p:sp>
      <p:pic>
        <p:nvPicPr>
          <p:cNvPr id="22" name="bg object 22"/>
          <p:cNvPicPr/>
          <p:nvPr/>
        </p:nvPicPr>
        <p:blipFill>
          <a:blip r:embed="rId7" cstate="print"/>
          <a:stretch>
            <a:fillRect/>
          </a:stretch>
        </p:blipFill>
        <p:spPr>
          <a:xfrm>
            <a:off x="7855703" y="126425"/>
            <a:ext cx="1118566" cy="541114"/>
          </a:xfrm>
          <a:prstGeom prst="rect">
            <a:avLst/>
          </a:prstGeom>
        </p:spPr>
      </p:pic>
      <p:sp>
        <p:nvSpPr>
          <p:cNvPr id="2" name="Holder 2"/>
          <p:cNvSpPr>
            <a:spLocks noGrp="1"/>
          </p:cNvSpPr>
          <p:nvPr>
            <p:ph type="title"/>
          </p:nvPr>
        </p:nvSpPr>
        <p:spPr>
          <a:xfrm>
            <a:off x="382805" y="224734"/>
            <a:ext cx="3098800" cy="756919"/>
          </a:xfrm>
          <a:prstGeom prst="rect">
            <a:avLst/>
          </a:prstGeom>
        </p:spPr>
        <p:txBody>
          <a:bodyPr wrap="square" lIns="0" tIns="0" rIns="0" bIns="0">
            <a:spAutoFit/>
          </a:bodyPr>
          <a:lstStyle>
            <a:lvl1pPr>
              <a:defRPr sz="4800" b="1" i="0">
                <a:solidFill>
                  <a:schemeClr val="bg1"/>
                </a:solidFill>
                <a:latin typeface="Roboto Cn"/>
                <a:cs typeface="Roboto Cn"/>
              </a:defRPr>
            </a:lvl1pPr>
          </a:lstStyle>
          <a:p>
            <a:endParaRPr/>
          </a:p>
        </p:txBody>
      </p:sp>
      <p:sp>
        <p:nvSpPr>
          <p:cNvPr id="3" name="Holder 3"/>
          <p:cNvSpPr>
            <a:spLocks noGrp="1"/>
          </p:cNvSpPr>
          <p:nvPr>
            <p:ph type="body" idx="1"/>
          </p:nvPr>
        </p:nvSpPr>
        <p:spPr>
          <a:xfrm>
            <a:off x="-6350" y="1084218"/>
            <a:ext cx="5899785" cy="296862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6" name="Holder 6"/>
          <p:cNvSpPr>
            <a:spLocks noGrp="1"/>
          </p:cNvSpPr>
          <p:nvPr>
            <p:ph type="sldNum" sz="quarter" idx="7"/>
          </p:nvPr>
        </p:nvSpPr>
        <p:spPr>
          <a:xfrm>
            <a:off x="8827092" y="4696030"/>
            <a:ext cx="230504" cy="205104"/>
          </a:xfrm>
          <a:prstGeom prst="rect">
            <a:avLst/>
          </a:prstGeom>
        </p:spPr>
        <p:txBody>
          <a:bodyPr wrap="square" lIns="0" tIns="0" rIns="0" bIns="0">
            <a:spAutoFit/>
          </a:bodyPr>
          <a:lstStyle>
            <a:lvl1pPr>
              <a:defRPr sz="1200" b="1" i="0">
                <a:solidFill>
                  <a:schemeClr val="bg1"/>
                </a:solidFill>
                <a:latin typeface="Calibri"/>
                <a:cs typeface="Calibri"/>
              </a:defRPr>
            </a:lvl1pPr>
          </a:lstStyle>
          <a:p>
            <a:pPr marL="38100">
              <a:lnSpc>
                <a:spcPct val="100000"/>
              </a:lnSpc>
              <a:spcBef>
                <a:spcPts val="10"/>
              </a:spcBef>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image" Target="../media/image3.jfif"/><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www/"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544482" y="657775"/>
            <a:ext cx="1299845" cy="433070"/>
          </a:xfrm>
          <a:custGeom>
            <a:avLst/>
            <a:gdLst/>
            <a:ahLst/>
            <a:cxnLst/>
            <a:rect l="l" t="t" r="r" b="b"/>
            <a:pathLst>
              <a:path w="1299845" h="433069">
                <a:moveTo>
                  <a:pt x="1299299" y="432899"/>
                </a:moveTo>
                <a:lnTo>
                  <a:pt x="0" y="432899"/>
                </a:lnTo>
                <a:lnTo>
                  <a:pt x="421298" y="0"/>
                </a:lnTo>
                <a:lnTo>
                  <a:pt x="1299299" y="432899"/>
                </a:lnTo>
                <a:close/>
              </a:path>
            </a:pathLst>
          </a:custGeom>
          <a:solidFill>
            <a:srgbClr val="263148"/>
          </a:solidFill>
        </p:spPr>
        <p:txBody>
          <a:bodyPr wrap="square" lIns="0" tIns="0" rIns="0" bIns="0" rtlCol="0"/>
          <a:lstStyle/>
          <a:p>
            <a:endParaRPr/>
          </a:p>
        </p:txBody>
      </p:sp>
      <p:grpSp>
        <p:nvGrpSpPr>
          <p:cNvPr id="3" name="object 3"/>
          <p:cNvGrpSpPr/>
          <p:nvPr/>
        </p:nvGrpSpPr>
        <p:grpSpPr>
          <a:xfrm>
            <a:off x="24544" y="57150"/>
            <a:ext cx="9144000" cy="5143500"/>
            <a:chOff x="0" y="0"/>
            <a:chExt cx="9144000" cy="5143500"/>
          </a:xfrm>
        </p:grpSpPr>
        <p:sp>
          <p:nvSpPr>
            <p:cNvPr id="4" name="object 4"/>
            <p:cNvSpPr/>
            <p:nvPr/>
          </p:nvSpPr>
          <p:spPr>
            <a:xfrm>
              <a:off x="0" y="0"/>
              <a:ext cx="8654415" cy="5143500"/>
            </a:xfrm>
            <a:custGeom>
              <a:avLst/>
              <a:gdLst/>
              <a:ahLst/>
              <a:cxnLst/>
              <a:rect l="l" t="t" r="r" b="b"/>
              <a:pathLst>
                <a:path w="8654415" h="5143500">
                  <a:moveTo>
                    <a:pt x="8654301" y="0"/>
                  </a:moveTo>
                  <a:lnTo>
                    <a:pt x="3524999" y="0"/>
                  </a:lnTo>
                  <a:lnTo>
                    <a:pt x="3517887" y="0"/>
                  </a:lnTo>
                  <a:lnTo>
                    <a:pt x="0" y="0"/>
                  </a:lnTo>
                  <a:lnTo>
                    <a:pt x="0" y="5143500"/>
                  </a:lnTo>
                  <a:lnTo>
                    <a:pt x="3524999" y="5143500"/>
                  </a:lnTo>
                  <a:lnTo>
                    <a:pt x="3524999" y="5129301"/>
                  </a:lnTo>
                  <a:lnTo>
                    <a:pt x="8654301" y="0"/>
                  </a:lnTo>
                  <a:close/>
                </a:path>
              </a:pathLst>
            </a:custGeom>
            <a:solidFill>
              <a:srgbClr val="C7D3E6"/>
            </a:solidFill>
          </p:spPr>
          <p:txBody>
            <a:bodyPr wrap="square" lIns="0" tIns="0" rIns="0" bIns="0" rtlCol="0"/>
            <a:lstStyle/>
            <a:p>
              <a:endParaRPr/>
            </a:p>
          </p:txBody>
        </p:sp>
        <p:sp>
          <p:nvSpPr>
            <p:cNvPr id="5" name="object 5"/>
            <p:cNvSpPr/>
            <p:nvPr/>
          </p:nvSpPr>
          <p:spPr>
            <a:xfrm>
              <a:off x="0" y="1090764"/>
              <a:ext cx="8848090" cy="2962275"/>
            </a:xfrm>
            <a:custGeom>
              <a:avLst/>
              <a:gdLst/>
              <a:ahLst/>
              <a:cxnLst/>
              <a:rect l="l" t="t" r="r" b="b"/>
              <a:pathLst>
                <a:path w="8848090" h="2962275">
                  <a:moveTo>
                    <a:pt x="8847493" y="63"/>
                  </a:moveTo>
                  <a:lnTo>
                    <a:pt x="5888939" y="63"/>
                  </a:lnTo>
                  <a:lnTo>
                    <a:pt x="0" y="0"/>
                  </a:lnTo>
                  <a:lnTo>
                    <a:pt x="0" y="2961919"/>
                  </a:lnTo>
                  <a:lnTo>
                    <a:pt x="5885586" y="2961919"/>
                  </a:lnTo>
                  <a:lnTo>
                    <a:pt x="5888939" y="2961919"/>
                  </a:lnTo>
                  <a:lnTo>
                    <a:pt x="5888939" y="2958630"/>
                  </a:lnTo>
                  <a:lnTo>
                    <a:pt x="8847493" y="63"/>
                  </a:lnTo>
                  <a:close/>
                </a:path>
              </a:pathLst>
            </a:custGeom>
            <a:solidFill>
              <a:srgbClr val="3E5378"/>
            </a:solidFill>
          </p:spPr>
          <p:txBody>
            <a:bodyPr wrap="square" lIns="0" tIns="0" rIns="0" bIns="0" rtlCol="0"/>
            <a:lstStyle/>
            <a:p>
              <a:endParaRPr/>
            </a:p>
          </p:txBody>
        </p:sp>
        <p:sp>
          <p:nvSpPr>
            <p:cNvPr id="6" name="object 6"/>
            <p:cNvSpPr/>
            <p:nvPr/>
          </p:nvSpPr>
          <p:spPr>
            <a:xfrm>
              <a:off x="3677236" y="4579944"/>
              <a:ext cx="394335" cy="131445"/>
            </a:xfrm>
            <a:custGeom>
              <a:avLst/>
              <a:gdLst/>
              <a:ahLst/>
              <a:cxnLst/>
              <a:rect l="l" t="t" r="r" b="b"/>
              <a:pathLst>
                <a:path w="394335" h="131445">
                  <a:moveTo>
                    <a:pt x="266380" y="131399"/>
                  </a:moveTo>
                  <a:lnTo>
                    <a:pt x="0" y="0"/>
                  </a:lnTo>
                  <a:lnTo>
                    <a:pt x="394199" y="0"/>
                  </a:lnTo>
                  <a:lnTo>
                    <a:pt x="266380" y="131399"/>
                  </a:lnTo>
                  <a:close/>
                </a:path>
              </a:pathLst>
            </a:custGeom>
            <a:solidFill>
              <a:srgbClr val="D16F00"/>
            </a:solidFill>
          </p:spPr>
          <p:txBody>
            <a:bodyPr wrap="square" lIns="0" tIns="0" rIns="0" bIns="0" rtlCol="0"/>
            <a:lstStyle/>
            <a:p>
              <a:endParaRPr/>
            </a:p>
          </p:txBody>
        </p:sp>
        <p:sp>
          <p:nvSpPr>
            <p:cNvPr id="7" name="object 7"/>
            <p:cNvSpPr/>
            <p:nvPr/>
          </p:nvSpPr>
          <p:spPr>
            <a:xfrm>
              <a:off x="3680193" y="4278350"/>
              <a:ext cx="5464175" cy="304800"/>
            </a:xfrm>
            <a:custGeom>
              <a:avLst/>
              <a:gdLst/>
              <a:ahLst/>
              <a:cxnLst/>
              <a:rect l="l" t="t" r="r" b="b"/>
              <a:pathLst>
                <a:path w="5464175" h="304800">
                  <a:moveTo>
                    <a:pt x="5463806" y="0"/>
                  </a:moveTo>
                  <a:lnTo>
                    <a:pt x="304558" y="0"/>
                  </a:lnTo>
                  <a:lnTo>
                    <a:pt x="297548" y="0"/>
                  </a:lnTo>
                  <a:lnTo>
                    <a:pt x="297548" y="7010"/>
                  </a:lnTo>
                  <a:lnTo>
                    <a:pt x="0" y="304558"/>
                  </a:lnTo>
                  <a:lnTo>
                    <a:pt x="297548" y="304558"/>
                  </a:lnTo>
                  <a:lnTo>
                    <a:pt x="304558" y="304558"/>
                  </a:lnTo>
                  <a:lnTo>
                    <a:pt x="5463806" y="304558"/>
                  </a:lnTo>
                  <a:lnTo>
                    <a:pt x="5463806" y="0"/>
                  </a:lnTo>
                  <a:close/>
                </a:path>
              </a:pathLst>
            </a:custGeom>
            <a:solidFill>
              <a:srgbClr val="FF9800"/>
            </a:solidFill>
          </p:spPr>
          <p:txBody>
            <a:bodyPr wrap="square" lIns="0" tIns="0" rIns="0" bIns="0" rtlCol="0"/>
            <a:lstStyle/>
            <a:p>
              <a:endParaRPr/>
            </a:p>
          </p:txBody>
        </p:sp>
      </p:grpSp>
      <p:sp>
        <p:nvSpPr>
          <p:cNvPr id="8" name="object 8"/>
          <p:cNvSpPr txBox="1">
            <a:spLocks noGrp="1"/>
          </p:cNvSpPr>
          <p:nvPr>
            <p:ph type="title"/>
          </p:nvPr>
        </p:nvSpPr>
        <p:spPr>
          <a:xfrm>
            <a:off x="432236" y="1962150"/>
            <a:ext cx="6730564" cy="2228815"/>
          </a:xfrm>
          <a:prstGeom prst="rect">
            <a:avLst/>
          </a:prstGeom>
        </p:spPr>
        <p:txBody>
          <a:bodyPr vert="horz" wrap="square" lIns="0" tIns="12700" rIns="0" bIns="0" rtlCol="0">
            <a:spAutoFit/>
          </a:bodyPr>
          <a:lstStyle/>
          <a:p>
            <a:pPr marL="12700" lvl="0">
              <a:spcBef>
                <a:spcPts val="100"/>
              </a:spcBef>
            </a:pPr>
            <a:r>
              <a:rPr lang="en-US" b="0" dirty="0"/>
              <a:t>AdvanceWebApplicationDevelopment</a:t>
            </a:r>
            <a:br>
              <a:rPr lang="en-US" spc="-300" dirty="0">
                <a:solidFill>
                  <a:srgbClr val="151241"/>
                </a:solidFill>
                <a:cs typeface="+mn-ea"/>
              </a:rPr>
            </a:br>
            <a:endParaRPr spc="-5" dirty="0">
              <a:latin typeface="Calibri"/>
              <a:cs typeface="Calibri"/>
            </a:endParaRPr>
          </a:p>
        </p:txBody>
      </p:sp>
      <p:sp>
        <p:nvSpPr>
          <p:cNvPr id="14" name="MH_Title">
            <a:extLst>
              <a:ext uri="{FF2B5EF4-FFF2-40B4-BE49-F238E27FC236}">
                <a16:creationId xmlns:a16="http://schemas.microsoft.com/office/drawing/2014/main" id="{253CF7F5-493B-4D2F-B3D3-5EB0CB6923E2}"/>
              </a:ext>
            </a:extLst>
          </p:cNvPr>
          <p:cNvSpPr txBox="1">
            <a:spLocks noChangeArrowheads="1"/>
          </p:cNvSpPr>
          <p:nvPr>
            <p:custDataLst>
              <p:tags r:id="rId1"/>
            </p:custDataLst>
          </p:nvPr>
        </p:nvSpPr>
        <p:spPr bwMode="auto">
          <a:xfrm>
            <a:off x="990600" y="1365281"/>
            <a:ext cx="4468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normAutofit/>
          </a:bodyPr>
          <a:lstStyle>
            <a:defPPr>
              <a:defRPr lang="zh-CN"/>
            </a:defPPr>
            <a:lvl1pPr>
              <a:defRPr>
                <a:latin typeface="华文细黑" panose="02010600040101010101" pitchFamily="2" charset="-122"/>
                <a:ea typeface="华文细黑" panose="02010600040101010101" pitchFamily="2" charset="-122"/>
              </a:defRPr>
            </a:lvl1pPr>
            <a:lvl2pPr marL="742950" indent="-285750">
              <a:defRPr>
                <a:latin typeface="Arial Narrow" panose="020B0606020202030204" pitchFamily="34" charset="0"/>
                <a:ea typeface="宋体" panose="02010600030101010101" pitchFamily="2" charset="-122"/>
              </a:defRPr>
            </a:lvl2pPr>
            <a:lvl3pPr marL="1143000" indent="-228600">
              <a:defRPr>
                <a:latin typeface="Arial Narrow" panose="020B0606020202030204" pitchFamily="34" charset="0"/>
                <a:ea typeface="宋体" panose="02010600030101010101" pitchFamily="2" charset="-122"/>
              </a:defRPr>
            </a:lvl3pPr>
            <a:lvl4pPr marL="1600200" indent="-228600">
              <a:defRPr>
                <a:latin typeface="Arial Narrow" panose="020B0606020202030204" pitchFamily="34" charset="0"/>
                <a:ea typeface="宋体" panose="02010600030101010101" pitchFamily="2" charset="-122"/>
              </a:defRPr>
            </a:lvl4pPr>
            <a:lvl5pPr marL="2057400" indent="-228600">
              <a:defRPr>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latin typeface="Arial Narrow" panose="020B0606020202030204" pitchFamily="34" charset="0"/>
                <a:ea typeface="宋体" panose="02010600030101010101" pitchFamily="2" charset="-122"/>
              </a:defRPr>
            </a:lvl9pPr>
          </a:lstStyle>
          <a:p>
            <a:pPr algn="ctr">
              <a:lnSpc>
                <a:spcPct val="115000"/>
              </a:lnSpc>
              <a:spcAft>
                <a:spcPts val="1000"/>
              </a:spcAft>
            </a:pPr>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Virtual University SKP Campus</a:t>
            </a:r>
            <a:endParaRPr lang="en-US" altLang="zh-CN" sz="1200" dirty="0">
              <a:solidFill>
                <a:srgbClr val="000000"/>
              </a:solidFill>
              <a:latin typeface="+mn-lt"/>
              <a:ea typeface="+mn-ea"/>
              <a:cs typeface="+mn-ea"/>
              <a:sym typeface="+mn-lt"/>
            </a:endParaRPr>
          </a:p>
        </p:txBody>
      </p:sp>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04043" y="2839794"/>
            <a:ext cx="1263015" cy="1263015"/>
          </a:xfrm>
          <a:prstGeom prst="rect">
            <a:avLst/>
          </a:prstGeom>
        </p:spPr>
      </p:pic>
      <p:sp>
        <p:nvSpPr>
          <p:cNvPr id="16" name="MH_Title">
            <a:extLst>
              <a:ext uri="{FF2B5EF4-FFF2-40B4-BE49-F238E27FC236}">
                <a16:creationId xmlns:a16="http://schemas.microsoft.com/office/drawing/2014/main" id="{253CF7F5-493B-4D2F-B3D3-5EB0CB6923E2}"/>
              </a:ext>
            </a:extLst>
          </p:cNvPr>
          <p:cNvSpPr txBox="1">
            <a:spLocks noChangeArrowheads="1"/>
          </p:cNvSpPr>
          <p:nvPr>
            <p:custDataLst>
              <p:tags r:id="rId2"/>
            </p:custDataLst>
          </p:nvPr>
        </p:nvSpPr>
        <p:spPr bwMode="auto">
          <a:xfrm>
            <a:off x="1891358" y="3637425"/>
            <a:ext cx="1828800" cy="303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normAutofit fontScale="92500" lnSpcReduction="10000"/>
          </a:bodyPr>
          <a:lstStyle>
            <a:defPPr>
              <a:defRPr lang="zh-CN"/>
            </a:defPPr>
            <a:lvl1pPr>
              <a:defRPr>
                <a:latin typeface="华文细黑" panose="02010600040101010101" pitchFamily="2" charset="-122"/>
                <a:ea typeface="华文细黑" panose="02010600040101010101" pitchFamily="2" charset="-122"/>
              </a:defRPr>
            </a:lvl1pPr>
            <a:lvl2pPr marL="742950" indent="-285750">
              <a:defRPr>
                <a:latin typeface="Arial Narrow" panose="020B0606020202030204" pitchFamily="34" charset="0"/>
                <a:ea typeface="宋体" panose="02010600030101010101" pitchFamily="2" charset="-122"/>
              </a:defRPr>
            </a:lvl2pPr>
            <a:lvl3pPr marL="1143000" indent="-228600">
              <a:defRPr>
                <a:latin typeface="Arial Narrow" panose="020B0606020202030204" pitchFamily="34" charset="0"/>
                <a:ea typeface="宋体" panose="02010600030101010101" pitchFamily="2" charset="-122"/>
              </a:defRPr>
            </a:lvl3pPr>
            <a:lvl4pPr marL="1600200" indent="-228600">
              <a:defRPr>
                <a:latin typeface="Arial Narrow" panose="020B0606020202030204" pitchFamily="34" charset="0"/>
                <a:ea typeface="宋体" panose="02010600030101010101" pitchFamily="2" charset="-122"/>
              </a:defRPr>
            </a:lvl4pPr>
            <a:lvl5pPr marL="2057400" indent="-228600">
              <a:defRPr>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latin typeface="Arial Narrow" panose="020B0606020202030204" pitchFamily="34" charset="0"/>
                <a:ea typeface="宋体" panose="02010600030101010101" pitchFamily="2" charset="-122"/>
              </a:defRPr>
            </a:lvl9pPr>
          </a:lstStyle>
          <a:p>
            <a:pPr algn="ctr">
              <a:lnSpc>
                <a:spcPct val="115000"/>
              </a:lnSpc>
              <a:spcAft>
                <a:spcPts val="1000"/>
              </a:spcAft>
            </a:pPr>
            <a:endParaRPr lang="en-PK" sz="1200" dirty="0">
              <a:solidFill>
                <a:schemeClr val="bg1"/>
              </a:solidFill>
              <a:latin typeface="Calibri" panose="020F0502020204030204" pitchFamily="34" charset="0"/>
              <a:ea typeface="Calibri" panose="020F0502020204030204" pitchFamily="34" charset="0"/>
              <a:cs typeface="Arial" panose="020B0604020202020204" pitchFamily="34" charset="0"/>
            </a:endParaRPr>
          </a:p>
          <a:p>
            <a:pPr algn="ctr">
              <a:lnSpc>
                <a:spcPct val="115000"/>
              </a:lnSpc>
              <a:spcAft>
                <a:spcPts val="1000"/>
              </a:spcAft>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ctr">
              <a:lnSpc>
                <a:spcPct val="200000"/>
              </a:lnSpc>
            </a:pPr>
            <a:endParaRPr lang="en-US" altLang="zh-CN" sz="1200" dirty="0">
              <a:solidFill>
                <a:srgbClr val="000000"/>
              </a:solidFill>
              <a:latin typeface="+mn-lt"/>
              <a:ea typeface="+mn-ea"/>
              <a:cs typeface="+mn-ea"/>
              <a:sym typeface="+mn-lt"/>
            </a:endParaRPr>
          </a:p>
          <a:p>
            <a:pPr algn="ctr">
              <a:lnSpc>
                <a:spcPct val="200000"/>
              </a:lnSpc>
            </a:pPr>
            <a:endParaRPr lang="en-US" altLang="zh-CN" sz="1200" dirty="0">
              <a:solidFill>
                <a:srgbClr val="000000"/>
              </a:solidFill>
              <a:latin typeface="+mn-lt"/>
              <a:ea typeface="+mn-ea"/>
              <a:cs typeface="+mn-ea"/>
              <a:sym typeface="+mn-lt"/>
            </a:endParaRPr>
          </a:p>
        </p:txBody>
      </p:sp>
      <p:pic>
        <p:nvPicPr>
          <p:cNvPr id="13" name="Picture 12">
            <a:extLst>
              <a:ext uri="{FF2B5EF4-FFF2-40B4-BE49-F238E27FC236}">
                <a16:creationId xmlns:a16="http://schemas.microsoft.com/office/drawing/2014/main" id="{07A9CABC-D49C-C4D3-A34C-A68F1F9F89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200" y="176232"/>
            <a:ext cx="1219201" cy="917838"/>
          </a:xfrm>
          <a:prstGeom prst="rect">
            <a:avLst/>
          </a:prstGeom>
        </p:spPr>
      </p:pic>
      <p:pic>
        <p:nvPicPr>
          <p:cNvPr id="18" name="Picture 17">
            <a:extLst>
              <a:ext uri="{FF2B5EF4-FFF2-40B4-BE49-F238E27FC236}">
                <a16:creationId xmlns:a16="http://schemas.microsoft.com/office/drawing/2014/main" id="{EB2715AF-A29A-8826-53B8-072798AABE6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47057" y="170043"/>
            <a:ext cx="1543050" cy="9178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1AF65-37C4-DD0B-4CFB-E0C10B26B187}"/>
              </a:ext>
            </a:extLst>
          </p:cNvPr>
          <p:cNvSpPr>
            <a:spLocks noGrp="1"/>
          </p:cNvSpPr>
          <p:nvPr>
            <p:ph type="title"/>
          </p:nvPr>
        </p:nvSpPr>
        <p:spPr>
          <a:xfrm>
            <a:off x="381000" y="514350"/>
            <a:ext cx="3276600" cy="369332"/>
          </a:xfrm>
        </p:spPr>
        <p:txBody>
          <a:bodyPr/>
          <a:lstStyle/>
          <a:p>
            <a:r>
              <a:rPr lang="en-GB" sz="2400" b="0" dirty="0"/>
              <a:t>Introduction</a:t>
            </a:r>
            <a:endParaRPr lang="en-US" sz="2400" b="0" dirty="0"/>
          </a:p>
        </p:txBody>
      </p:sp>
      <p:sp>
        <p:nvSpPr>
          <p:cNvPr id="3" name="Text Placeholder 2">
            <a:extLst>
              <a:ext uri="{FF2B5EF4-FFF2-40B4-BE49-F238E27FC236}">
                <a16:creationId xmlns:a16="http://schemas.microsoft.com/office/drawing/2014/main" id="{7FF365BE-0761-F96E-8A1E-3ED1E69854C4}"/>
              </a:ext>
            </a:extLst>
          </p:cNvPr>
          <p:cNvSpPr>
            <a:spLocks noGrp="1"/>
          </p:cNvSpPr>
          <p:nvPr>
            <p:ph type="body" idx="1"/>
          </p:nvPr>
        </p:nvSpPr>
        <p:spPr>
          <a:xfrm>
            <a:off x="393671" y="1428750"/>
            <a:ext cx="7471093" cy="3139321"/>
          </a:xfrm>
        </p:spPr>
        <p:txBody>
          <a:bodyPr/>
          <a:lstStyle/>
          <a:p>
            <a:r>
              <a:rPr lang="en-US" sz="2400" b="1" dirty="0">
                <a:highlight>
                  <a:srgbClr val="FFFFFF"/>
                </a:highlight>
              </a:rPr>
              <a:t>Hasnain Younis</a:t>
            </a:r>
            <a:br>
              <a:rPr lang="en-US" sz="1600" dirty="0">
                <a:highlight>
                  <a:srgbClr val="FFFFFF"/>
                </a:highlight>
              </a:rPr>
            </a:br>
            <a:r>
              <a:rPr lang="en-US" sz="2000" dirty="0">
                <a:highlight>
                  <a:srgbClr val="FFFFFF"/>
                </a:highlight>
              </a:rPr>
              <a:t>Full Stack Developer | Research Officer |Senior Instructor </a:t>
            </a:r>
          </a:p>
          <a:p>
            <a:r>
              <a:rPr lang="en-US" sz="2000" dirty="0">
                <a:highlight>
                  <a:srgbClr val="FFFFFF"/>
                </a:highlight>
              </a:rPr>
              <a:t>• 3+ years professional experience at UET Lahore</a:t>
            </a:r>
            <a:br>
              <a:rPr lang="en-US" sz="2000" dirty="0">
                <a:highlight>
                  <a:srgbClr val="FFFFFF"/>
                </a:highlight>
              </a:rPr>
            </a:br>
            <a:r>
              <a:rPr lang="en-US" sz="2000" dirty="0">
                <a:highlight>
                  <a:srgbClr val="FFFFFF"/>
                </a:highlight>
              </a:rPr>
              <a:t>• 5+ years teaching experience in web development</a:t>
            </a:r>
            <a:br>
              <a:rPr lang="en-US" sz="2000" dirty="0">
                <a:highlight>
                  <a:srgbClr val="FFFFFF"/>
                </a:highlight>
              </a:rPr>
            </a:br>
            <a:r>
              <a:rPr lang="en-US" sz="2000" dirty="0">
                <a:highlight>
                  <a:srgbClr val="FFFFFF"/>
                </a:highlight>
              </a:rPr>
              <a:t>• Senior Instructor for NAVTTC &amp; international programs</a:t>
            </a:r>
            <a:br>
              <a:rPr lang="en-US" sz="2000" dirty="0">
                <a:highlight>
                  <a:srgbClr val="FFFFFF"/>
                </a:highlight>
              </a:rPr>
            </a:br>
            <a:r>
              <a:rPr lang="en-US" sz="2000" dirty="0">
                <a:highlight>
                  <a:srgbClr val="FFFFFF"/>
                </a:highlight>
              </a:rPr>
              <a:t>• Delivered 7+ professional web development batches</a:t>
            </a:r>
            <a:br>
              <a:rPr lang="en-US" sz="2000" dirty="0">
                <a:highlight>
                  <a:srgbClr val="FFFFFF"/>
                </a:highlight>
              </a:rPr>
            </a:br>
            <a:r>
              <a:rPr lang="en-US" sz="2000" dirty="0">
                <a:highlight>
                  <a:srgbClr val="FFFFFF"/>
                </a:highlight>
              </a:rPr>
              <a:t>• Instructor in international project (Gambia students)</a:t>
            </a:r>
            <a:br>
              <a:rPr lang="en-US" sz="2000" dirty="0">
                <a:highlight>
                  <a:srgbClr val="FFFFFF"/>
                </a:highlight>
              </a:rPr>
            </a:br>
            <a:r>
              <a:rPr lang="en-US" sz="2000" dirty="0">
                <a:highlight>
                  <a:srgbClr val="FFFFFF"/>
                </a:highlight>
              </a:rPr>
              <a:t>• Expertise: MERN Stack &amp; Laravel development</a:t>
            </a:r>
            <a:br>
              <a:rPr lang="en-US" sz="2000" dirty="0">
                <a:highlight>
                  <a:srgbClr val="FFFFFF"/>
                </a:highlight>
              </a:rPr>
            </a:br>
            <a:r>
              <a:rPr lang="en-US" sz="2000" dirty="0">
                <a:highlight>
                  <a:srgbClr val="FFFFFF"/>
                </a:highlight>
              </a:rPr>
              <a:t>• Real-world industry project experience</a:t>
            </a:r>
            <a:br>
              <a:rPr lang="en-US" sz="2000" dirty="0">
                <a:highlight>
                  <a:srgbClr val="FFFFFF"/>
                </a:highlight>
              </a:rPr>
            </a:br>
            <a:r>
              <a:rPr lang="en-US" sz="2000" dirty="0">
                <a:highlight>
                  <a:srgbClr val="FFFFFF"/>
                </a:highlight>
              </a:rPr>
              <a:t>• Punjab Safe City Project, University Health Clinic project</a:t>
            </a:r>
          </a:p>
        </p:txBody>
      </p:sp>
    </p:spTree>
    <p:extLst>
      <p:ext uri="{BB962C8B-B14F-4D97-AF65-F5344CB8AC3E}">
        <p14:creationId xmlns:p14="http://schemas.microsoft.com/office/powerpoint/2010/main" val="2479117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62FCF-2A8D-624A-12E1-183A8F4F0597}"/>
              </a:ext>
            </a:extLst>
          </p:cNvPr>
          <p:cNvSpPr>
            <a:spLocks noGrp="1"/>
          </p:cNvSpPr>
          <p:nvPr>
            <p:ph type="title"/>
          </p:nvPr>
        </p:nvSpPr>
        <p:spPr>
          <a:xfrm>
            <a:off x="381000" y="438150"/>
            <a:ext cx="3098800" cy="1908215"/>
          </a:xfrm>
        </p:spPr>
        <p:txBody>
          <a:bodyPr/>
          <a:lstStyle/>
          <a:p>
            <a:r>
              <a:rPr lang="en-US" sz="2800" dirty="0"/>
              <a:t>Course Goals</a:t>
            </a:r>
            <a:br>
              <a:rPr lang="en-US" sz="2800" dirty="0"/>
            </a:br>
            <a:br>
              <a:rPr lang="en-US" b="1" i="0" dirty="0">
                <a:solidFill>
                  <a:srgbClr val="353535"/>
                </a:solidFill>
                <a:effectLst/>
                <a:latin typeface="Open Sans" panose="020F0502020204030204" pitchFamily="34" charset="0"/>
              </a:rPr>
            </a:br>
            <a:endParaRPr lang="en-US" dirty="0"/>
          </a:p>
        </p:txBody>
      </p:sp>
      <p:sp>
        <p:nvSpPr>
          <p:cNvPr id="3" name="Text Placeholder 2">
            <a:extLst>
              <a:ext uri="{FF2B5EF4-FFF2-40B4-BE49-F238E27FC236}">
                <a16:creationId xmlns:a16="http://schemas.microsoft.com/office/drawing/2014/main" id="{2CED2D98-FA32-09BB-11F1-D85C7D0A2B15}"/>
              </a:ext>
            </a:extLst>
          </p:cNvPr>
          <p:cNvSpPr>
            <a:spLocks noGrp="1"/>
          </p:cNvSpPr>
          <p:nvPr>
            <p:ph type="body" idx="1"/>
          </p:nvPr>
        </p:nvSpPr>
        <p:spPr>
          <a:xfrm>
            <a:off x="228600" y="1428750"/>
            <a:ext cx="8077200" cy="2215991"/>
          </a:xfrm>
        </p:spPr>
        <p:txBody>
          <a:bodyPr/>
          <a:lstStyle/>
          <a:p>
            <a:r>
              <a:rPr lang="en-US" dirty="0"/>
              <a:t>• Build strong foundation in advanced web application development</a:t>
            </a:r>
            <a:br>
              <a:rPr lang="en-US" dirty="0"/>
            </a:br>
            <a:r>
              <a:rPr lang="en-US" dirty="0"/>
              <a:t>• Develop real-world, industry-level projects</a:t>
            </a:r>
            <a:br>
              <a:rPr lang="en-US" dirty="0"/>
            </a:br>
            <a:r>
              <a:rPr lang="en-US" dirty="0"/>
              <a:t>• Master modern full stack tools and frameworks</a:t>
            </a:r>
            <a:br>
              <a:rPr lang="en-US" dirty="0"/>
            </a:br>
            <a:r>
              <a:rPr lang="en-US" dirty="0"/>
              <a:t>• Improve problem-solving and debugging skills</a:t>
            </a:r>
            <a:br>
              <a:rPr lang="en-US" dirty="0"/>
            </a:br>
            <a:r>
              <a:rPr lang="en-US" dirty="0"/>
              <a:t>• Learn best practices used in professional development</a:t>
            </a:r>
            <a:br>
              <a:rPr lang="en-US" dirty="0"/>
            </a:br>
            <a:r>
              <a:rPr lang="en-US" dirty="0"/>
              <a:t>• Gain confidence to work as a job-ready developer</a:t>
            </a:r>
            <a:br>
              <a:rPr lang="en-US" dirty="0"/>
            </a:br>
            <a:r>
              <a:rPr lang="en-US" dirty="0"/>
              <a:t>• Understand teamwork and project workflow</a:t>
            </a:r>
            <a:br>
              <a:rPr lang="en-US" dirty="0"/>
            </a:br>
            <a:r>
              <a:rPr lang="en-US" dirty="0"/>
              <a:t>• Create a portfolio-ready application by the end of the course</a:t>
            </a:r>
          </a:p>
        </p:txBody>
      </p:sp>
    </p:spTree>
    <p:extLst>
      <p:ext uri="{BB962C8B-B14F-4D97-AF65-F5344CB8AC3E}">
        <p14:creationId xmlns:p14="http://schemas.microsoft.com/office/powerpoint/2010/main" val="1589437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75582-CE08-81DA-397C-822034238E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14A921-10D3-D223-DEB9-A54626CB9588}"/>
              </a:ext>
            </a:extLst>
          </p:cNvPr>
          <p:cNvSpPr>
            <a:spLocks noGrp="1"/>
          </p:cNvSpPr>
          <p:nvPr>
            <p:ph type="title"/>
          </p:nvPr>
        </p:nvSpPr>
        <p:spPr>
          <a:xfrm>
            <a:off x="228600" y="514350"/>
            <a:ext cx="3886200" cy="685800"/>
          </a:xfrm>
        </p:spPr>
        <p:txBody>
          <a:bodyPr/>
          <a:lstStyle/>
          <a:p>
            <a:r>
              <a:rPr lang="en-US" sz="2800" dirty="0"/>
              <a:t>Course Introduction</a:t>
            </a:r>
            <a:br>
              <a:rPr lang="en-US" sz="2800" dirty="0"/>
            </a:br>
            <a:br>
              <a:rPr lang="en-US" sz="2800" dirty="0"/>
            </a:br>
            <a:br>
              <a:rPr lang="en-US" b="1" i="0" dirty="0">
                <a:solidFill>
                  <a:srgbClr val="353535"/>
                </a:solidFill>
                <a:effectLst/>
                <a:latin typeface="Open Sans" panose="020F0502020204030204" pitchFamily="34" charset="0"/>
              </a:rPr>
            </a:br>
            <a:endParaRPr lang="en-US" dirty="0"/>
          </a:p>
        </p:txBody>
      </p:sp>
      <p:sp>
        <p:nvSpPr>
          <p:cNvPr id="3" name="Text Placeholder 2">
            <a:extLst>
              <a:ext uri="{FF2B5EF4-FFF2-40B4-BE49-F238E27FC236}">
                <a16:creationId xmlns:a16="http://schemas.microsoft.com/office/drawing/2014/main" id="{8CB41202-C439-FAD3-B45A-944B2E70A212}"/>
              </a:ext>
            </a:extLst>
          </p:cNvPr>
          <p:cNvSpPr>
            <a:spLocks noGrp="1"/>
          </p:cNvSpPr>
          <p:nvPr>
            <p:ph type="body" idx="1"/>
          </p:nvPr>
        </p:nvSpPr>
        <p:spPr>
          <a:xfrm>
            <a:off x="259080" y="1581150"/>
            <a:ext cx="8077200" cy="1661993"/>
          </a:xfrm>
        </p:spPr>
        <p:txBody>
          <a:bodyPr/>
          <a:lstStyle/>
          <a:p>
            <a:r>
              <a:rPr lang="en-US" dirty="0"/>
              <a:t>This course is designed to build strong skills in modern web application development from basic to advanced level. We will learn HTML, CSS, JavaScript, PHP, MySQL, jQuery, AJAX, and Laravel through practical projects. The focus is 80% hands-on practice so students gain real-world experience. By the end of the course, students will be able to design, develop, and deploy professional web applications using industry-standard tools and best practices.</a:t>
            </a:r>
          </a:p>
        </p:txBody>
      </p:sp>
    </p:spTree>
    <p:extLst>
      <p:ext uri="{BB962C8B-B14F-4D97-AF65-F5344CB8AC3E}">
        <p14:creationId xmlns:p14="http://schemas.microsoft.com/office/powerpoint/2010/main" val="3165428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EA315-690D-C5AD-0F7C-E0C245F70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9686E9-4A27-A904-31B4-43732CF7D7A6}"/>
              </a:ext>
            </a:extLst>
          </p:cNvPr>
          <p:cNvSpPr>
            <a:spLocks noGrp="1"/>
          </p:cNvSpPr>
          <p:nvPr>
            <p:ph type="title"/>
          </p:nvPr>
        </p:nvSpPr>
        <p:spPr>
          <a:xfrm>
            <a:off x="228600" y="514350"/>
            <a:ext cx="3886200" cy="430887"/>
          </a:xfrm>
        </p:spPr>
        <p:txBody>
          <a:bodyPr/>
          <a:lstStyle/>
          <a:p>
            <a:r>
              <a:rPr lang="en-US" sz="2800" dirty="0"/>
              <a:t>Job Market</a:t>
            </a:r>
            <a:endParaRPr lang="en-US" dirty="0"/>
          </a:p>
        </p:txBody>
      </p:sp>
      <p:sp>
        <p:nvSpPr>
          <p:cNvPr id="3" name="Text Placeholder 2">
            <a:extLst>
              <a:ext uri="{FF2B5EF4-FFF2-40B4-BE49-F238E27FC236}">
                <a16:creationId xmlns:a16="http://schemas.microsoft.com/office/drawing/2014/main" id="{CED2AC94-2F9A-0602-E154-7C90DBDCAFAC}"/>
              </a:ext>
            </a:extLst>
          </p:cNvPr>
          <p:cNvSpPr>
            <a:spLocks noGrp="1"/>
          </p:cNvSpPr>
          <p:nvPr>
            <p:ph type="body" idx="1"/>
          </p:nvPr>
        </p:nvSpPr>
        <p:spPr>
          <a:xfrm>
            <a:off x="259080" y="1581150"/>
            <a:ext cx="8077200" cy="1661993"/>
          </a:xfrm>
        </p:spPr>
        <p:txBody>
          <a:bodyPr/>
          <a:lstStyle/>
          <a:p>
            <a:r>
              <a:rPr lang="en-US" dirty="0"/>
              <a:t>The demand for web developers is growing rapidly worldwide. Companies, startups, and freelancers all require skilled developers to build websites and applications. Students completing this course can work in software houses, IT companies, government institutes, or start freelancing on platforms like Upwork and Fiverr. Web development offers strong career growth, remote work opportunities, and the ability to earn globally.</a:t>
            </a:r>
          </a:p>
        </p:txBody>
      </p:sp>
    </p:spTree>
    <p:extLst>
      <p:ext uri="{BB962C8B-B14F-4D97-AF65-F5344CB8AC3E}">
        <p14:creationId xmlns:p14="http://schemas.microsoft.com/office/powerpoint/2010/main" val="4056236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2172C-40A2-BEDB-6124-B7C2DA7245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92ED0B-E02F-9608-B840-270E58CA07EC}"/>
              </a:ext>
            </a:extLst>
          </p:cNvPr>
          <p:cNvSpPr>
            <a:spLocks noGrp="1"/>
          </p:cNvSpPr>
          <p:nvPr>
            <p:ph type="title"/>
          </p:nvPr>
        </p:nvSpPr>
        <p:spPr>
          <a:xfrm>
            <a:off x="228600" y="514350"/>
            <a:ext cx="3886200" cy="430887"/>
          </a:xfrm>
        </p:spPr>
        <p:txBody>
          <a:bodyPr/>
          <a:lstStyle/>
          <a:p>
            <a:r>
              <a:rPr lang="en-US" sz="2800" dirty="0"/>
              <a:t>Course Applications</a:t>
            </a:r>
          </a:p>
        </p:txBody>
      </p:sp>
      <p:sp>
        <p:nvSpPr>
          <p:cNvPr id="3" name="Text Placeholder 2">
            <a:extLst>
              <a:ext uri="{FF2B5EF4-FFF2-40B4-BE49-F238E27FC236}">
                <a16:creationId xmlns:a16="http://schemas.microsoft.com/office/drawing/2014/main" id="{046F4B64-00C7-8195-839A-5BB7777907C7}"/>
              </a:ext>
            </a:extLst>
          </p:cNvPr>
          <p:cNvSpPr>
            <a:spLocks noGrp="1"/>
          </p:cNvSpPr>
          <p:nvPr>
            <p:ph type="body" idx="1"/>
          </p:nvPr>
        </p:nvSpPr>
        <p:spPr>
          <a:xfrm>
            <a:off x="259080" y="1581150"/>
            <a:ext cx="8077200" cy="1384995"/>
          </a:xfrm>
        </p:spPr>
        <p:txBody>
          <a:bodyPr/>
          <a:lstStyle/>
          <a:p>
            <a:r>
              <a:rPr lang="en-US" dirty="0"/>
              <a:t>Skills learned in this course can be applied to real-world projects such as business websites, web applications, e-commerce platforms, APIs, and portfolio systems. Students can build their own startup projects, work as freelance developers, or join professional software teams. The course prepares students to create production-ready applications and become job-ready developers.</a:t>
            </a:r>
          </a:p>
        </p:txBody>
      </p:sp>
    </p:spTree>
    <p:extLst>
      <p:ext uri="{BB962C8B-B14F-4D97-AF65-F5344CB8AC3E}">
        <p14:creationId xmlns:p14="http://schemas.microsoft.com/office/powerpoint/2010/main" val="2870452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4D0CE-B62F-51DE-64E3-4EF49F1C4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40CD5F-09B7-6BD4-57F1-70310D60996A}"/>
              </a:ext>
            </a:extLst>
          </p:cNvPr>
          <p:cNvSpPr>
            <a:spLocks noGrp="1"/>
          </p:cNvSpPr>
          <p:nvPr>
            <p:ph type="title"/>
          </p:nvPr>
        </p:nvSpPr>
        <p:spPr>
          <a:xfrm>
            <a:off x="152400" y="438150"/>
            <a:ext cx="6858000" cy="369332"/>
          </a:xfrm>
        </p:spPr>
        <p:txBody>
          <a:bodyPr/>
          <a:lstStyle/>
          <a:p>
            <a:r>
              <a:rPr lang="en-US" sz="2400" dirty="0"/>
              <a:t>Introduction to World Wide Web (WWW)</a:t>
            </a:r>
          </a:p>
        </p:txBody>
      </p:sp>
      <p:sp>
        <p:nvSpPr>
          <p:cNvPr id="3" name="Text Placeholder 2">
            <a:extLst>
              <a:ext uri="{FF2B5EF4-FFF2-40B4-BE49-F238E27FC236}">
                <a16:creationId xmlns:a16="http://schemas.microsoft.com/office/drawing/2014/main" id="{E85E42EB-51D4-42F4-9E5D-269A1B3EB416}"/>
              </a:ext>
            </a:extLst>
          </p:cNvPr>
          <p:cNvSpPr>
            <a:spLocks noGrp="1"/>
          </p:cNvSpPr>
          <p:nvPr>
            <p:ph type="body" idx="1"/>
          </p:nvPr>
        </p:nvSpPr>
        <p:spPr>
          <a:xfrm>
            <a:off x="228600" y="1352550"/>
            <a:ext cx="8763000" cy="3600986"/>
          </a:xfrm>
        </p:spPr>
        <p:txBody>
          <a:bodyPr/>
          <a:lstStyle/>
          <a:p>
            <a:r>
              <a:rPr lang="en-US" dirty="0"/>
              <a:t>The World Wide Web is a global system that allows people to access information through the internet. When we open a browser and visit a website, we are using the </a:t>
            </a:r>
            <a:r>
              <a:rPr lang="en-US" dirty="0">
                <a:hlinkClick r:id="rId2"/>
              </a:rPr>
              <a:t>WWW</a:t>
            </a:r>
            <a:r>
              <a:rPr lang="en-US" dirty="0"/>
              <a:t>. It connects millions of computers worldwide and shares data instantly.</a:t>
            </a:r>
          </a:p>
          <a:p>
            <a:endParaRPr lang="en-US" b="1" dirty="0"/>
          </a:p>
          <a:p>
            <a:r>
              <a:rPr lang="en-US" b="1" dirty="0"/>
              <a:t>Website</a:t>
            </a:r>
          </a:p>
          <a:p>
            <a:r>
              <a:rPr lang="en-US" dirty="0"/>
              <a:t>A website is a collection of related web pages connected under one domain name. It is used to share information, services, or products. Examples include Google, Facebook, and Amazon.</a:t>
            </a:r>
          </a:p>
          <a:p>
            <a:endParaRPr lang="en-US" dirty="0"/>
          </a:p>
          <a:p>
            <a:r>
              <a:rPr lang="en-US" b="1" dirty="0"/>
              <a:t>Web Pages</a:t>
            </a:r>
          </a:p>
          <a:p>
            <a:r>
              <a:rPr lang="en-US" dirty="0"/>
              <a:t>A web page is a single page of a website. A website is made up of many web pages like Home, About, and Contact. Each web page is created using HTML, CSS, and JavaScript.</a:t>
            </a:r>
          </a:p>
          <a:p>
            <a:endParaRPr lang="en-US" dirty="0"/>
          </a:p>
        </p:txBody>
      </p:sp>
    </p:spTree>
    <p:extLst>
      <p:ext uri="{BB962C8B-B14F-4D97-AF65-F5344CB8AC3E}">
        <p14:creationId xmlns:p14="http://schemas.microsoft.com/office/powerpoint/2010/main" val="2060532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6B868-D0F2-3AF4-649D-F97FD5E89B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1185B-78E6-5BBA-A0A2-E064A0F31CD5}"/>
              </a:ext>
            </a:extLst>
          </p:cNvPr>
          <p:cNvSpPr>
            <a:spLocks noGrp="1"/>
          </p:cNvSpPr>
          <p:nvPr>
            <p:ph type="title"/>
          </p:nvPr>
        </p:nvSpPr>
        <p:spPr>
          <a:xfrm>
            <a:off x="228600" y="438150"/>
            <a:ext cx="6858000" cy="369332"/>
          </a:xfrm>
        </p:spPr>
        <p:txBody>
          <a:bodyPr/>
          <a:lstStyle/>
          <a:p>
            <a:r>
              <a:rPr lang="en-US" sz="2400" dirty="0"/>
              <a:t>Different Types of Websites</a:t>
            </a:r>
          </a:p>
        </p:txBody>
      </p:sp>
      <p:sp>
        <p:nvSpPr>
          <p:cNvPr id="3" name="Text Placeholder 2">
            <a:extLst>
              <a:ext uri="{FF2B5EF4-FFF2-40B4-BE49-F238E27FC236}">
                <a16:creationId xmlns:a16="http://schemas.microsoft.com/office/drawing/2014/main" id="{3462B140-BD0B-FBB5-AF80-4FF65B6CAF21}"/>
              </a:ext>
            </a:extLst>
          </p:cNvPr>
          <p:cNvSpPr>
            <a:spLocks noGrp="1"/>
          </p:cNvSpPr>
          <p:nvPr>
            <p:ph type="body" idx="1"/>
          </p:nvPr>
        </p:nvSpPr>
        <p:spPr>
          <a:xfrm>
            <a:off x="228600" y="1352550"/>
            <a:ext cx="8763000" cy="1661993"/>
          </a:xfrm>
        </p:spPr>
        <p:txBody>
          <a:bodyPr/>
          <a:lstStyle/>
          <a:p>
            <a:r>
              <a:rPr lang="en-US" dirty="0"/>
              <a:t>• Static websites – simple informational sites</a:t>
            </a:r>
            <a:br>
              <a:rPr lang="en-US" dirty="0"/>
            </a:br>
            <a:r>
              <a:rPr lang="en-US" dirty="0"/>
              <a:t>• Dynamic websites – interactive websites</a:t>
            </a:r>
            <a:br>
              <a:rPr lang="en-US" dirty="0"/>
            </a:br>
            <a:r>
              <a:rPr lang="en-US" dirty="0"/>
              <a:t>• E-commerce websites – online shopping platforms</a:t>
            </a:r>
            <a:br>
              <a:rPr lang="en-US" dirty="0"/>
            </a:br>
            <a:r>
              <a:rPr lang="en-US" dirty="0"/>
              <a:t>• Educational websites – learning platforms</a:t>
            </a:r>
            <a:br>
              <a:rPr lang="en-US" dirty="0"/>
            </a:br>
            <a:r>
              <a:rPr lang="en-US" dirty="0"/>
              <a:t>• Business websites – company/service websites</a:t>
            </a:r>
            <a:br>
              <a:rPr lang="en-US" dirty="0"/>
            </a:br>
            <a:r>
              <a:rPr lang="en-US" dirty="0"/>
              <a:t>• Blog websites – personal or article-based websites</a:t>
            </a:r>
          </a:p>
        </p:txBody>
      </p:sp>
    </p:spTree>
    <p:extLst>
      <p:ext uri="{BB962C8B-B14F-4D97-AF65-F5344CB8AC3E}">
        <p14:creationId xmlns:p14="http://schemas.microsoft.com/office/powerpoint/2010/main" val="1572191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7180E-95B5-B246-FCB3-74E0B7CF79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AFCC44-240A-1E2C-1308-D3F1B5505655}"/>
              </a:ext>
            </a:extLst>
          </p:cNvPr>
          <p:cNvSpPr>
            <a:spLocks noGrp="1"/>
          </p:cNvSpPr>
          <p:nvPr>
            <p:ph type="title"/>
          </p:nvPr>
        </p:nvSpPr>
        <p:spPr>
          <a:xfrm>
            <a:off x="228600" y="438150"/>
            <a:ext cx="6858000" cy="369332"/>
          </a:xfrm>
        </p:spPr>
        <p:txBody>
          <a:bodyPr/>
          <a:lstStyle/>
          <a:p>
            <a:r>
              <a:rPr lang="en-US" sz="2400" dirty="0"/>
              <a:t>Architecture of Static &amp; Dynamic Webpages</a:t>
            </a:r>
          </a:p>
        </p:txBody>
      </p:sp>
      <p:sp>
        <p:nvSpPr>
          <p:cNvPr id="3" name="Text Placeholder 2">
            <a:extLst>
              <a:ext uri="{FF2B5EF4-FFF2-40B4-BE49-F238E27FC236}">
                <a16:creationId xmlns:a16="http://schemas.microsoft.com/office/drawing/2014/main" id="{88AB540E-7142-53F9-14CD-F50549F85BF9}"/>
              </a:ext>
            </a:extLst>
          </p:cNvPr>
          <p:cNvSpPr>
            <a:spLocks noGrp="1"/>
          </p:cNvSpPr>
          <p:nvPr>
            <p:ph type="body" idx="1"/>
          </p:nvPr>
        </p:nvSpPr>
        <p:spPr>
          <a:xfrm>
            <a:off x="228600" y="1352550"/>
            <a:ext cx="8763000" cy="3939540"/>
          </a:xfrm>
        </p:spPr>
        <p:txBody>
          <a:bodyPr/>
          <a:lstStyle/>
          <a:p>
            <a:r>
              <a:rPr lang="en-US" sz="2400" b="1" dirty="0"/>
              <a:t>Static Webpages</a:t>
            </a:r>
          </a:p>
          <a:p>
            <a:r>
              <a:rPr lang="en-US" sz="1400" dirty="0"/>
              <a:t>Static webpages are built using fixed HTML and CSS files stored on a web server. When a user requests a page, the server sends the same file to everyone. The content does not change unless a developer edits the code manually.</a:t>
            </a:r>
          </a:p>
          <a:p>
            <a:r>
              <a:rPr lang="en-US" sz="1400" b="1" dirty="0"/>
              <a:t>Flow:</a:t>
            </a:r>
            <a:br>
              <a:rPr lang="en-US" sz="1400" dirty="0"/>
            </a:br>
            <a:r>
              <a:rPr lang="en-US" sz="1400" dirty="0"/>
              <a:t>User → Browser → Server → Fixed HTML page → User</a:t>
            </a:r>
          </a:p>
          <a:p>
            <a:r>
              <a:rPr lang="en-US" sz="1400" dirty="0"/>
              <a:t>Static websites are simple, fast, and easy to host.</a:t>
            </a:r>
          </a:p>
          <a:p>
            <a:r>
              <a:rPr lang="en-US" sz="2400" b="1" dirty="0"/>
              <a:t>Dynamic Webpages</a:t>
            </a:r>
          </a:p>
          <a:p>
            <a:r>
              <a:rPr lang="en-US" sz="1600" dirty="0"/>
              <a:t>Dynamic webpages are generated in real time using server-side programming and databases. When a user requests a page, the server processes data, interacts with a database, and creates a custom response.</a:t>
            </a:r>
          </a:p>
          <a:p>
            <a:r>
              <a:rPr lang="en-US" sz="1600" b="1" dirty="0"/>
              <a:t>Flow:</a:t>
            </a:r>
            <a:br>
              <a:rPr lang="en-US" sz="1600" dirty="0"/>
            </a:br>
            <a:r>
              <a:rPr lang="en-US" sz="1600" dirty="0"/>
              <a:t>User → Browser → Server → Database → Generated page → User</a:t>
            </a:r>
          </a:p>
          <a:p>
            <a:r>
              <a:rPr lang="en-US" sz="1600" dirty="0"/>
              <a:t>Dynamic websites can show personalized and updated content.</a:t>
            </a:r>
          </a:p>
          <a:p>
            <a:endParaRPr lang="en-US" sz="2400" b="1" dirty="0"/>
          </a:p>
          <a:p>
            <a:endParaRPr lang="en-US" dirty="0"/>
          </a:p>
        </p:txBody>
      </p:sp>
    </p:spTree>
    <p:extLst>
      <p:ext uri="{BB962C8B-B14F-4D97-AF65-F5344CB8AC3E}">
        <p14:creationId xmlns:p14="http://schemas.microsoft.com/office/powerpoint/2010/main" val="147271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19673-23F1-74F3-E2C8-2D801072778B}"/>
              </a:ext>
            </a:extLst>
          </p:cNvPr>
          <p:cNvSpPr>
            <a:spLocks noGrp="1"/>
          </p:cNvSpPr>
          <p:nvPr>
            <p:ph type="title"/>
          </p:nvPr>
        </p:nvSpPr>
        <p:spPr>
          <a:xfrm>
            <a:off x="496201" y="590550"/>
            <a:ext cx="5828397" cy="307777"/>
          </a:xfrm>
        </p:spPr>
        <p:txBody>
          <a:bodyPr/>
          <a:lstStyle/>
          <a:p>
            <a:r>
              <a:rPr lang="en-US" sz="2000" dirty="0"/>
              <a:t>Comparison: Static vs Dynamic Websites</a:t>
            </a:r>
          </a:p>
        </p:txBody>
      </p:sp>
      <p:sp>
        <p:nvSpPr>
          <p:cNvPr id="3" name="Text Placeholder 2">
            <a:extLst>
              <a:ext uri="{FF2B5EF4-FFF2-40B4-BE49-F238E27FC236}">
                <a16:creationId xmlns:a16="http://schemas.microsoft.com/office/drawing/2014/main" id="{33E11F47-E605-1987-0B6D-E5F3F7B66B90}"/>
              </a:ext>
            </a:extLst>
          </p:cNvPr>
          <p:cNvSpPr>
            <a:spLocks noGrp="1"/>
          </p:cNvSpPr>
          <p:nvPr>
            <p:ph sz="half" idx="2"/>
          </p:nvPr>
        </p:nvSpPr>
        <p:spPr>
          <a:xfrm>
            <a:off x="382805" y="1454322"/>
            <a:ext cx="4189195" cy="1477328"/>
          </a:xfrm>
        </p:spPr>
        <p:txBody>
          <a:bodyPr/>
          <a:lstStyle/>
          <a:p>
            <a:pPr marL="285750" indent="-285750">
              <a:buFont typeface="Arial" panose="020B0604020202020204" pitchFamily="34" charset="0"/>
              <a:buChar char="•"/>
            </a:pPr>
            <a:r>
              <a:rPr lang="en-US" sz="1600" dirty="0"/>
              <a:t>• Static: fixed content</a:t>
            </a:r>
            <a:br>
              <a:rPr lang="en-US" sz="1600" dirty="0"/>
            </a:br>
            <a:r>
              <a:rPr lang="en-US" sz="1600" dirty="0"/>
              <a:t>• Static: no database </a:t>
            </a:r>
            <a:br>
              <a:rPr lang="en-US" sz="1600" dirty="0"/>
            </a:br>
            <a:r>
              <a:rPr lang="en-US" sz="1600" dirty="0"/>
              <a:t>• Static: simple &amp; fast </a:t>
            </a:r>
            <a:br>
              <a:rPr lang="en-US" sz="1600" dirty="0"/>
            </a:br>
            <a:r>
              <a:rPr lang="en-US" sz="1600" dirty="0"/>
              <a:t>• Static: manual updates </a:t>
            </a:r>
            <a:br>
              <a:rPr lang="en-US" sz="1600" dirty="0"/>
            </a:br>
            <a:r>
              <a:rPr lang="en-US" sz="1600" dirty="0"/>
              <a:t>• Static: low cost</a:t>
            </a:r>
            <a:br>
              <a:rPr lang="en-US" sz="1600" dirty="0"/>
            </a:br>
            <a:r>
              <a:rPr lang="en-US" sz="1600" dirty="0"/>
              <a:t>• Static: basic websites </a:t>
            </a:r>
            <a:endParaRPr lang="en-US" sz="1400" dirty="0"/>
          </a:p>
        </p:txBody>
      </p:sp>
      <p:sp>
        <p:nvSpPr>
          <p:cNvPr id="4" name="Content Placeholder 3">
            <a:extLst>
              <a:ext uri="{FF2B5EF4-FFF2-40B4-BE49-F238E27FC236}">
                <a16:creationId xmlns:a16="http://schemas.microsoft.com/office/drawing/2014/main" id="{CB744023-51C0-069C-71D2-076D01ED42F3}"/>
              </a:ext>
            </a:extLst>
          </p:cNvPr>
          <p:cNvSpPr>
            <a:spLocks noGrp="1"/>
          </p:cNvSpPr>
          <p:nvPr>
            <p:ph sz="half" idx="3"/>
          </p:nvPr>
        </p:nvSpPr>
        <p:spPr>
          <a:xfrm>
            <a:off x="4709160" y="1454321"/>
            <a:ext cx="3977640" cy="1692771"/>
          </a:xfrm>
        </p:spPr>
        <p:txBody>
          <a:bodyPr/>
          <a:lstStyle/>
          <a:p>
            <a:pPr marL="285750" indent="-285750">
              <a:buFont typeface="Arial" panose="020B0604020202020204" pitchFamily="34" charset="0"/>
              <a:buChar char="•"/>
            </a:pPr>
            <a:r>
              <a:rPr lang="en-US" sz="1600" dirty="0"/>
              <a:t> Dynamic: changing content</a:t>
            </a:r>
          </a:p>
          <a:p>
            <a:pPr marL="285750" indent="-285750">
              <a:buFont typeface="Arial" panose="020B0604020202020204" pitchFamily="34" charset="0"/>
              <a:buChar char="•"/>
            </a:pPr>
            <a:r>
              <a:rPr lang="en-US" sz="1600" dirty="0"/>
              <a:t> Dynamic: uses database</a:t>
            </a:r>
          </a:p>
          <a:p>
            <a:pPr marL="285750" indent="-285750">
              <a:buFont typeface="Arial" panose="020B0604020202020204" pitchFamily="34" charset="0"/>
              <a:buChar char="•"/>
            </a:pPr>
            <a:r>
              <a:rPr lang="en-US" sz="1600" dirty="0"/>
              <a:t> Dynamic: interactive &amp; powerful</a:t>
            </a:r>
          </a:p>
          <a:p>
            <a:pPr marL="285750" indent="-285750">
              <a:buFont typeface="Arial" panose="020B0604020202020204" pitchFamily="34" charset="0"/>
              <a:buChar char="•"/>
            </a:pPr>
            <a:r>
              <a:rPr lang="en-US" sz="1600" dirty="0"/>
              <a:t> Dynamic: automatic updates</a:t>
            </a:r>
          </a:p>
          <a:p>
            <a:pPr marL="285750" indent="-285750">
              <a:buFont typeface="Arial" panose="020B0604020202020204" pitchFamily="34" charset="0"/>
              <a:buChar char="•"/>
            </a:pPr>
            <a:r>
              <a:rPr lang="en-US" sz="1600" dirty="0"/>
              <a:t> Dynamic: higher development cost</a:t>
            </a:r>
          </a:p>
          <a:p>
            <a:pPr marL="285750" indent="-285750">
              <a:buFont typeface="Arial" panose="020B0604020202020204" pitchFamily="34" charset="0"/>
              <a:buChar char="•"/>
            </a:pPr>
            <a:r>
              <a:rPr lang="en-US" sz="1600" dirty="0"/>
              <a:t> Dynamic: apps &amp; social platforms</a:t>
            </a:r>
          </a:p>
          <a:p>
            <a:pPr marL="285750" indent="-285750">
              <a:buFont typeface="Arial" panose="020B0604020202020204" pitchFamily="34" charset="0"/>
              <a:buChar char="•"/>
            </a:pPr>
            <a:endParaRPr lang="en-US" sz="1400" b="1" dirty="0"/>
          </a:p>
        </p:txBody>
      </p:sp>
      <p:cxnSp>
        <p:nvCxnSpPr>
          <p:cNvPr id="6" name="Straight Connector 5">
            <a:extLst>
              <a:ext uri="{FF2B5EF4-FFF2-40B4-BE49-F238E27FC236}">
                <a16:creationId xmlns:a16="http://schemas.microsoft.com/office/drawing/2014/main" id="{D9A5F2D9-C2EA-3060-7AE5-C75D19C74516}"/>
              </a:ext>
            </a:extLst>
          </p:cNvPr>
          <p:cNvCxnSpPr/>
          <p:nvPr/>
        </p:nvCxnSpPr>
        <p:spPr>
          <a:xfrm>
            <a:off x="4572000" y="1454321"/>
            <a:ext cx="0" cy="317483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3588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4E937-0423-F0C4-45B9-D18BD60B29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74346E-7021-32DE-2929-D9E1E00068AF}"/>
              </a:ext>
            </a:extLst>
          </p:cNvPr>
          <p:cNvSpPr>
            <a:spLocks noGrp="1"/>
          </p:cNvSpPr>
          <p:nvPr>
            <p:ph type="title"/>
          </p:nvPr>
        </p:nvSpPr>
        <p:spPr>
          <a:xfrm>
            <a:off x="152400" y="510539"/>
            <a:ext cx="6361795" cy="615553"/>
          </a:xfrm>
        </p:spPr>
        <p:txBody>
          <a:bodyPr/>
          <a:lstStyle/>
          <a:p>
            <a:r>
              <a:rPr lang="en-US" sz="2000" dirty="0"/>
              <a:t>Difference Between Frontend &amp; Backend Languages</a:t>
            </a:r>
          </a:p>
        </p:txBody>
      </p:sp>
      <p:sp>
        <p:nvSpPr>
          <p:cNvPr id="3" name="Text Placeholder 2">
            <a:extLst>
              <a:ext uri="{FF2B5EF4-FFF2-40B4-BE49-F238E27FC236}">
                <a16:creationId xmlns:a16="http://schemas.microsoft.com/office/drawing/2014/main" id="{0B44CC72-CE9D-93BC-25BE-36D476417BED}"/>
              </a:ext>
            </a:extLst>
          </p:cNvPr>
          <p:cNvSpPr>
            <a:spLocks noGrp="1"/>
          </p:cNvSpPr>
          <p:nvPr>
            <p:ph sz="half" idx="2"/>
          </p:nvPr>
        </p:nvSpPr>
        <p:spPr>
          <a:xfrm>
            <a:off x="382805" y="1454322"/>
            <a:ext cx="4189195" cy="2369880"/>
          </a:xfrm>
        </p:spPr>
        <p:txBody>
          <a:bodyPr/>
          <a:lstStyle/>
          <a:p>
            <a:r>
              <a:rPr lang="en-US" sz="2000" b="1" dirty="0"/>
              <a:t>Frontend Development</a:t>
            </a:r>
            <a:endParaRPr lang="en-US" sz="2000" dirty="0"/>
          </a:p>
          <a:p>
            <a:pPr marL="285750" indent="-285750">
              <a:buFont typeface="Arial" panose="020B0604020202020204" pitchFamily="34" charset="0"/>
              <a:buChar char="•"/>
            </a:pPr>
            <a:r>
              <a:rPr lang="en-US" sz="2000" dirty="0"/>
              <a:t>Part of website users can see</a:t>
            </a:r>
          </a:p>
          <a:p>
            <a:pPr marL="285750" indent="-285750">
              <a:buFont typeface="Arial" panose="020B0604020202020204" pitchFamily="34" charset="0"/>
              <a:buChar char="•"/>
            </a:pPr>
            <a:r>
              <a:rPr lang="en-US" sz="2000" dirty="0"/>
              <a:t>Handles design &amp; user interaction</a:t>
            </a:r>
          </a:p>
          <a:p>
            <a:pPr marL="285750" indent="-285750">
              <a:buFont typeface="Arial" panose="020B0604020202020204" pitchFamily="34" charset="0"/>
              <a:buChar char="•"/>
            </a:pPr>
            <a:r>
              <a:rPr lang="en-US" sz="2000" dirty="0"/>
              <a:t>Includes buttons, menus, forms</a:t>
            </a:r>
          </a:p>
          <a:p>
            <a:pPr marL="285750" indent="-285750">
              <a:buFont typeface="Arial" panose="020B0604020202020204" pitchFamily="34" charset="0"/>
              <a:buChar char="•"/>
            </a:pPr>
            <a:r>
              <a:rPr lang="en-US" sz="2000" dirty="0"/>
              <a:t>Focus on UI/UX</a:t>
            </a:r>
          </a:p>
          <a:p>
            <a:pPr marL="285750" indent="-285750">
              <a:buFont typeface="Arial" panose="020B0604020202020204" pitchFamily="34" charset="0"/>
              <a:buChar char="•"/>
            </a:pPr>
            <a:r>
              <a:rPr lang="en-US" sz="2000" dirty="0"/>
              <a:t>Runs inside the browser</a:t>
            </a:r>
          </a:p>
          <a:p>
            <a:pPr marL="285750" indent="-285750">
              <a:buFont typeface="Arial" panose="020B0604020202020204" pitchFamily="34" charset="0"/>
              <a:buChar char="•"/>
            </a:pPr>
            <a:r>
              <a:rPr lang="en-US" sz="2000" dirty="0"/>
              <a:t>Visible to users</a:t>
            </a:r>
          </a:p>
          <a:p>
            <a:endParaRPr lang="en-US" sz="1400" dirty="0"/>
          </a:p>
        </p:txBody>
      </p:sp>
      <p:sp>
        <p:nvSpPr>
          <p:cNvPr id="4" name="Content Placeholder 3">
            <a:extLst>
              <a:ext uri="{FF2B5EF4-FFF2-40B4-BE49-F238E27FC236}">
                <a16:creationId xmlns:a16="http://schemas.microsoft.com/office/drawing/2014/main" id="{0F0FB96B-ECBB-6225-837F-36A728A454AF}"/>
              </a:ext>
            </a:extLst>
          </p:cNvPr>
          <p:cNvSpPr>
            <a:spLocks noGrp="1"/>
          </p:cNvSpPr>
          <p:nvPr>
            <p:ph sz="half" idx="3"/>
          </p:nvPr>
        </p:nvSpPr>
        <p:spPr>
          <a:xfrm>
            <a:off x="4709160" y="1454321"/>
            <a:ext cx="3977640" cy="1969770"/>
          </a:xfrm>
        </p:spPr>
        <p:txBody>
          <a:bodyPr/>
          <a:lstStyle/>
          <a:p>
            <a:r>
              <a:rPr lang="en-US" sz="1600" b="1" dirty="0"/>
              <a:t>Main Frontend Languages</a:t>
            </a:r>
            <a:endParaRPr lang="en-US" sz="1600" dirty="0"/>
          </a:p>
          <a:p>
            <a:pPr lvl="1"/>
            <a:r>
              <a:rPr lang="en-US" sz="1600" dirty="0"/>
              <a:t>HTML → Structure of webpage</a:t>
            </a:r>
          </a:p>
          <a:p>
            <a:pPr lvl="1"/>
            <a:r>
              <a:rPr lang="en-US" sz="1600" dirty="0"/>
              <a:t>CSS → Styling &amp; design</a:t>
            </a:r>
          </a:p>
          <a:p>
            <a:pPr lvl="1"/>
            <a:r>
              <a:rPr lang="en-US" sz="1600" dirty="0"/>
              <a:t>JavaScript → Interactivity</a:t>
            </a:r>
          </a:p>
          <a:p>
            <a:r>
              <a:rPr lang="en-US" sz="1600" b="1" dirty="0"/>
              <a:t>Frameworks/Libraries:</a:t>
            </a:r>
          </a:p>
          <a:p>
            <a:pPr lvl="1"/>
            <a:r>
              <a:rPr lang="en-US" sz="1600" dirty="0"/>
              <a:t>React</a:t>
            </a:r>
          </a:p>
          <a:p>
            <a:pPr lvl="1"/>
            <a:r>
              <a:rPr lang="en-US" sz="1600" dirty="0"/>
              <a:t>Angular</a:t>
            </a:r>
          </a:p>
          <a:p>
            <a:pPr lvl="1"/>
            <a:r>
              <a:rPr lang="en-US" sz="1600" dirty="0"/>
              <a:t>Vue</a:t>
            </a:r>
          </a:p>
        </p:txBody>
      </p:sp>
      <p:cxnSp>
        <p:nvCxnSpPr>
          <p:cNvPr id="6" name="Straight Connector 5">
            <a:extLst>
              <a:ext uri="{FF2B5EF4-FFF2-40B4-BE49-F238E27FC236}">
                <a16:creationId xmlns:a16="http://schemas.microsoft.com/office/drawing/2014/main" id="{5CB2833E-5A9F-6B2D-79E4-0563A153F0C1}"/>
              </a:ext>
            </a:extLst>
          </p:cNvPr>
          <p:cNvCxnSpPr/>
          <p:nvPr/>
        </p:nvCxnSpPr>
        <p:spPr>
          <a:xfrm>
            <a:off x="4572000" y="1454321"/>
            <a:ext cx="0" cy="317483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1928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1BE11-9CE5-B64B-AB59-BEF814B218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C69EE8-78F0-0FCF-6DE9-754F3A92C71C}"/>
              </a:ext>
            </a:extLst>
          </p:cNvPr>
          <p:cNvSpPr>
            <a:spLocks noGrp="1"/>
          </p:cNvSpPr>
          <p:nvPr>
            <p:ph type="title"/>
          </p:nvPr>
        </p:nvSpPr>
        <p:spPr>
          <a:xfrm>
            <a:off x="382805" y="590550"/>
            <a:ext cx="4036795" cy="307777"/>
          </a:xfrm>
        </p:spPr>
        <p:txBody>
          <a:bodyPr/>
          <a:lstStyle/>
          <a:p>
            <a:r>
              <a:rPr lang="en-US" sz="2000" dirty="0"/>
              <a:t>What is Backend</a:t>
            </a:r>
          </a:p>
        </p:txBody>
      </p:sp>
      <p:sp>
        <p:nvSpPr>
          <p:cNvPr id="3" name="Text Placeholder 2">
            <a:extLst>
              <a:ext uri="{FF2B5EF4-FFF2-40B4-BE49-F238E27FC236}">
                <a16:creationId xmlns:a16="http://schemas.microsoft.com/office/drawing/2014/main" id="{36D223FE-096E-802E-666E-504AEF0B205A}"/>
              </a:ext>
            </a:extLst>
          </p:cNvPr>
          <p:cNvSpPr>
            <a:spLocks noGrp="1"/>
          </p:cNvSpPr>
          <p:nvPr>
            <p:ph sz="half" idx="2"/>
          </p:nvPr>
        </p:nvSpPr>
        <p:spPr>
          <a:xfrm>
            <a:off x="382805" y="1454322"/>
            <a:ext cx="4189195" cy="2369880"/>
          </a:xfrm>
        </p:spPr>
        <p:txBody>
          <a:bodyPr/>
          <a:lstStyle/>
          <a:p>
            <a:r>
              <a:rPr lang="en-US" sz="2000" b="1" dirty="0"/>
              <a:t>Backend Development</a:t>
            </a:r>
            <a:endParaRPr lang="en-US" sz="2000" dirty="0"/>
          </a:p>
          <a:p>
            <a:pPr marL="342900" indent="-342900">
              <a:buFont typeface="Arial" panose="020B0604020202020204" pitchFamily="34" charset="0"/>
              <a:buChar char="•"/>
            </a:pPr>
            <a:r>
              <a:rPr lang="en-US" sz="2000" dirty="0"/>
              <a:t>Works behind the scenes</a:t>
            </a:r>
          </a:p>
          <a:p>
            <a:pPr marL="342900" indent="-342900">
              <a:buFont typeface="Arial" panose="020B0604020202020204" pitchFamily="34" charset="0"/>
              <a:buChar char="•"/>
            </a:pPr>
            <a:r>
              <a:rPr lang="en-US" sz="2000" dirty="0"/>
              <a:t>Handles server logic</a:t>
            </a:r>
          </a:p>
          <a:p>
            <a:pPr marL="342900" indent="-342900">
              <a:buFont typeface="Arial" panose="020B0604020202020204" pitchFamily="34" charset="0"/>
              <a:buChar char="•"/>
            </a:pPr>
            <a:r>
              <a:rPr lang="en-US" sz="2000" dirty="0"/>
              <a:t>Connects with database</a:t>
            </a:r>
          </a:p>
          <a:p>
            <a:pPr marL="342900" indent="-342900">
              <a:buFont typeface="Arial" panose="020B0604020202020204" pitchFamily="34" charset="0"/>
              <a:buChar char="•"/>
            </a:pPr>
            <a:r>
              <a:rPr lang="en-US" sz="2000" dirty="0"/>
              <a:t>Processes user requests</a:t>
            </a:r>
          </a:p>
          <a:p>
            <a:pPr marL="342900" indent="-342900">
              <a:buFont typeface="Arial" panose="020B0604020202020204" pitchFamily="34" charset="0"/>
              <a:buChar char="•"/>
            </a:pPr>
            <a:r>
              <a:rPr lang="en-US" sz="2000" dirty="0"/>
              <a:t>Manages authentication</a:t>
            </a:r>
          </a:p>
          <a:p>
            <a:pPr marL="342900" indent="-342900">
              <a:buFont typeface="Arial" panose="020B0604020202020204" pitchFamily="34" charset="0"/>
              <a:buChar char="•"/>
            </a:pPr>
            <a:r>
              <a:rPr lang="en-US" sz="2000" dirty="0"/>
              <a:t>Hidden from users</a:t>
            </a:r>
          </a:p>
          <a:p>
            <a:endParaRPr lang="en-US" sz="1400" dirty="0"/>
          </a:p>
        </p:txBody>
      </p:sp>
      <p:sp>
        <p:nvSpPr>
          <p:cNvPr id="4" name="Content Placeholder 3">
            <a:extLst>
              <a:ext uri="{FF2B5EF4-FFF2-40B4-BE49-F238E27FC236}">
                <a16:creationId xmlns:a16="http://schemas.microsoft.com/office/drawing/2014/main" id="{22908F2F-133A-A481-E0D6-B9DD5C6DDB5E}"/>
              </a:ext>
            </a:extLst>
          </p:cNvPr>
          <p:cNvSpPr>
            <a:spLocks noGrp="1"/>
          </p:cNvSpPr>
          <p:nvPr>
            <p:ph sz="half" idx="3"/>
          </p:nvPr>
        </p:nvSpPr>
        <p:spPr>
          <a:xfrm>
            <a:off x="4709160" y="1454321"/>
            <a:ext cx="3977640" cy="1723549"/>
          </a:xfrm>
        </p:spPr>
        <p:txBody>
          <a:bodyPr/>
          <a:lstStyle/>
          <a:p>
            <a:r>
              <a:rPr lang="en-US" sz="1600" b="1" dirty="0"/>
              <a:t>Common Backend Languages</a:t>
            </a:r>
            <a:endParaRPr lang="en-US" sz="1600" dirty="0"/>
          </a:p>
          <a:p>
            <a:pPr lvl="1"/>
            <a:r>
              <a:rPr lang="en-US" sz="1600" dirty="0"/>
              <a:t>Node.js</a:t>
            </a:r>
          </a:p>
          <a:p>
            <a:pPr lvl="1"/>
            <a:r>
              <a:rPr lang="en-US" sz="1600" dirty="0"/>
              <a:t>Python</a:t>
            </a:r>
          </a:p>
          <a:p>
            <a:pPr lvl="1"/>
            <a:r>
              <a:rPr lang="en-US" sz="1600" dirty="0"/>
              <a:t>Java</a:t>
            </a:r>
          </a:p>
          <a:p>
            <a:pPr lvl="1"/>
            <a:r>
              <a:rPr lang="en-US" sz="1600" dirty="0"/>
              <a:t>PHP</a:t>
            </a:r>
          </a:p>
          <a:p>
            <a:pPr lvl="1"/>
            <a:r>
              <a:rPr lang="en-US" sz="1600" dirty="0"/>
              <a:t>C#</a:t>
            </a:r>
          </a:p>
          <a:p>
            <a:pPr lvl="1"/>
            <a:r>
              <a:rPr lang="en-US" sz="1600" dirty="0"/>
              <a:t>Ruby</a:t>
            </a:r>
          </a:p>
        </p:txBody>
      </p:sp>
      <p:cxnSp>
        <p:nvCxnSpPr>
          <p:cNvPr id="6" name="Straight Connector 5">
            <a:extLst>
              <a:ext uri="{FF2B5EF4-FFF2-40B4-BE49-F238E27FC236}">
                <a16:creationId xmlns:a16="http://schemas.microsoft.com/office/drawing/2014/main" id="{62FE3160-4F08-6475-36E4-1FAEA27917D9}"/>
              </a:ext>
            </a:extLst>
          </p:cNvPr>
          <p:cNvCxnSpPr/>
          <p:nvPr/>
        </p:nvCxnSpPr>
        <p:spPr>
          <a:xfrm>
            <a:off x="4572000" y="1454321"/>
            <a:ext cx="0" cy="317483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271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70B14-E033-E1DD-46A8-2FD316754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146F1-E035-1EC9-A34D-C932C55C0D7E}"/>
              </a:ext>
            </a:extLst>
          </p:cNvPr>
          <p:cNvSpPr>
            <a:spLocks noGrp="1"/>
          </p:cNvSpPr>
          <p:nvPr>
            <p:ph type="title"/>
          </p:nvPr>
        </p:nvSpPr>
        <p:spPr>
          <a:xfrm>
            <a:off x="228600" y="590550"/>
            <a:ext cx="6858000" cy="615553"/>
          </a:xfrm>
        </p:spPr>
        <p:txBody>
          <a:bodyPr/>
          <a:lstStyle/>
          <a:p>
            <a:r>
              <a:rPr lang="en-US" sz="2000" dirty="0"/>
              <a:t>What are Chrome Developer Tools?</a:t>
            </a:r>
            <a:br>
              <a:rPr lang="en-US" sz="2000" dirty="0"/>
            </a:br>
            <a:endParaRPr lang="en-US" sz="2000" dirty="0"/>
          </a:p>
        </p:txBody>
      </p:sp>
      <p:sp>
        <p:nvSpPr>
          <p:cNvPr id="3" name="Text Placeholder 2">
            <a:extLst>
              <a:ext uri="{FF2B5EF4-FFF2-40B4-BE49-F238E27FC236}">
                <a16:creationId xmlns:a16="http://schemas.microsoft.com/office/drawing/2014/main" id="{72C7E67C-55C4-59CB-4F8D-49227217CAD9}"/>
              </a:ext>
            </a:extLst>
          </p:cNvPr>
          <p:cNvSpPr>
            <a:spLocks noGrp="1"/>
          </p:cNvSpPr>
          <p:nvPr>
            <p:ph type="body" idx="1"/>
          </p:nvPr>
        </p:nvSpPr>
        <p:spPr>
          <a:xfrm>
            <a:off x="228600" y="1352550"/>
            <a:ext cx="8763000" cy="2585323"/>
          </a:xfrm>
        </p:spPr>
        <p:txBody>
          <a:bodyPr/>
          <a:lstStyle/>
          <a:p>
            <a:r>
              <a:rPr lang="en-US" sz="2400" b="1" dirty="0"/>
              <a:t>Chrome Web Developer Tools</a:t>
            </a:r>
            <a:endParaRPr lang="en-US" sz="2400" dirty="0"/>
          </a:p>
          <a:p>
            <a:r>
              <a:rPr lang="en-US" sz="2400" dirty="0"/>
              <a:t>Built-in development tools</a:t>
            </a:r>
          </a:p>
          <a:p>
            <a:r>
              <a:rPr lang="en-US" sz="2400" dirty="0"/>
              <a:t>Helps inspect websites</a:t>
            </a:r>
          </a:p>
          <a:p>
            <a:r>
              <a:rPr lang="en-US" sz="2400" dirty="0"/>
              <a:t>Debug JavaScript code</a:t>
            </a:r>
          </a:p>
          <a:p>
            <a:r>
              <a:rPr lang="en-US" sz="2400" dirty="0"/>
              <a:t>Analyze performance</a:t>
            </a:r>
          </a:p>
          <a:p>
            <a:r>
              <a:rPr lang="en-US" sz="2400" dirty="0"/>
              <a:t>Test responsive design</a:t>
            </a:r>
          </a:p>
          <a:p>
            <a:r>
              <a:rPr lang="en-US" sz="2400" dirty="0"/>
              <a:t>No extra installation required</a:t>
            </a:r>
          </a:p>
        </p:txBody>
      </p:sp>
    </p:spTree>
    <p:extLst>
      <p:ext uri="{BB962C8B-B14F-4D97-AF65-F5344CB8AC3E}">
        <p14:creationId xmlns:p14="http://schemas.microsoft.com/office/powerpoint/2010/main" val="2370977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5301" y="2244483"/>
            <a:ext cx="3577590" cy="1244600"/>
          </a:xfrm>
          <a:prstGeom prst="rect">
            <a:avLst/>
          </a:prstGeom>
        </p:spPr>
        <p:txBody>
          <a:bodyPr vert="horz" wrap="square" lIns="0" tIns="12700" rIns="0" bIns="0" rtlCol="0">
            <a:spAutoFit/>
          </a:bodyPr>
          <a:lstStyle/>
          <a:p>
            <a:pPr marL="12700">
              <a:lnSpc>
                <a:spcPct val="100000"/>
              </a:lnSpc>
              <a:spcBef>
                <a:spcPts val="100"/>
              </a:spcBef>
            </a:pPr>
            <a:r>
              <a:rPr sz="8000" spc="-10" dirty="0">
                <a:solidFill>
                  <a:srgbClr val="FF9800"/>
                </a:solidFill>
                <a:latin typeface="Arial"/>
                <a:cs typeface="Arial"/>
              </a:rPr>
              <a:t>Thanks</a:t>
            </a:r>
            <a:endParaRPr sz="8000" dirty="0">
              <a:latin typeface="Arial"/>
              <a:cs typeface="Arial"/>
            </a:endParaRPr>
          </a:p>
        </p:txBody>
      </p:sp>
      <p:sp>
        <p:nvSpPr>
          <p:cNvPr id="3" name="object 3"/>
          <p:cNvSpPr txBox="1"/>
          <p:nvPr/>
        </p:nvSpPr>
        <p:spPr>
          <a:xfrm>
            <a:off x="8827389" y="4696030"/>
            <a:ext cx="230504" cy="185948"/>
          </a:xfrm>
          <a:prstGeom prst="rect">
            <a:avLst/>
          </a:prstGeom>
        </p:spPr>
        <p:txBody>
          <a:bodyPr vert="horz" wrap="square" lIns="0" tIns="1270" rIns="0" bIns="0" rtlCol="0">
            <a:spAutoFit/>
          </a:bodyPr>
          <a:lstStyle/>
          <a:p>
            <a:pPr marL="38100">
              <a:spcBef>
                <a:spcPts val="10"/>
              </a:spcBef>
            </a:pPr>
            <a:r>
              <a:rPr lang="en-US" sz="1200" b="1" spc="-25" dirty="0">
                <a:solidFill>
                  <a:srgbClr val="FFFFFF"/>
                </a:solidFill>
                <a:latin typeface="Roboto Cn"/>
                <a:cs typeface="Roboto Cn"/>
              </a:rPr>
              <a:t>15</a:t>
            </a:r>
            <a:endParaRPr sz="1200" b="1" spc="-25" dirty="0">
              <a:solidFill>
                <a:srgbClr val="FFFFFF"/>
              </a:solidFill>
              <a:latin typeface="Roboto Cn"/>
              <a:cs typeface="Roboto Cn"/>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D" val="626775"/>
  <p:tag name="MH" val="20170721170040"/>
  <p:tag name="MH_LIBRARY" val="CONTENTS"/>
  <p:tag name="MH_ORDER" val="NUMBER"/>
  <p:tag name="MH_TYPE" val="TITLE"/>
</p:tagLst>
</file>

<file path=ppt/tags/tag2.xml><?xml version="1.0" encoding="utf-8"?>
<p:tagLst xmlns:a="http://schemas.openxmlformats.org/drawingml/2006/main" xmlns:r="http://schemas.openxmlformats.org/officeDocument/2006/relationships" xmlns:p="http://schemas.openxmlformats.org/presentationml/2006/main">
  <p:tag name="ID" val="626775"/>
  <p:tag name="MH" val="20170721170040"/>
  <p:tag name="MH_LIBRARY" val="CONTENTS"/>
  <p:tag name="MH_ORDER" val="NUMBER"/>
  <p:tag name="MH_TYPE" val="TITL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13458</TotalTime>
  <Words>915</Words>
  <Application>Microsoft Office PowerPoint</Application>
  <PresentationFormat>On-screen Show (16:9)</PresentationFormat>
  <Paragraphs>83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Open Sans</vt:lpstr>
      <vt:lpstr>Roboto Cn</vt:lpstr>
      <vt:lpstr>Office Theme</vt:lpstr>
      <vt:lpstr>AdvanceWebApplicationDevelopment </vt:lpstr>
      <vt:lpstr>Introduction</vt:lpstr>
      <vt:lpstr>Course Goals  </vt:lpstr>
      <vt:lpstr>Course Introduction   </vt:lpstr>
      <vt:lpstr>Job Market</vt:lpstr>
      <vt:lpstr>Course Applications</vt:lpstr>
      <vt:lpstr>Introduction to World Wide Web (WWW)</vt:lpstr>
      <vt:lpstr>Different Types of Websites</vt:lpstr>
      <vt:lpstr>Architecture of Static &amp; Dynamic Webpages</vt:lpstr>
      <vt:lpstr>Comparison: Static vs Dynamic Websites</vt:lpstr>
      <vt:lpstr>Difference Between Frontend &amp; Backend Languages</vt:lpstr>
      <vt:lpstr>What is Backend</vt:lpstr>
      <vt:lpstr>What are Chrome Developer Tools?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cp:lastModifiedBy>Mc</cp:lastModifiedBy>
  <cp:revision>146</cp:revision>
  <dcterms:created xsi:type="dcterms:W3CDTF">2023-07-31T10:27:22Z</dcterms:created>
  <dcterms:modified xsi:type="dcterms:W3CDTF">2026-02-13T05:21:57Z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